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7" r:id="rId8"/>
    <p:sldId id="262" r:id="rId9"/>
    <p:sldId id="265" r:id="rId10"/>
    <p:sldId id="266" r:id="rId11"/>
    <p:sldId id="263" r:id="rId12"/>
    <p:sldId id="264"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DCA47FB-2F9E-47B9-B8D8-920FDEF183CB}"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511787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DCA47FB-2F9E-47B9-B8D8-920FDEF183CB}"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2449530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DCA47FB-2F9E-47B9-B8D8-920FDEF183CB}"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1765345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DCA47FB-2F9E-47B9-B8D8-920FDEF183CB}" type="datetimeFigureOut">
              <a:rPr lang="en-IN" smtClean="0"/>
              <a:t>18-03-2026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2086589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DCA47FB-2F9E-47B9-B8D8-920FDEF183CB}" type="datetimeFigureOut">
              <a:rPr lang="en-IN" smtClean="0"/>
              <a:t>18-03-2026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1287019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DCA47FB-2F9E-47B9-B8D8-920FDEF183CB}" type="datetimeFigureOut">
              <a:rPr lang="en-IN" smtClean="0"/>
              <a:t>18-03-2026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872760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CA47FB-2F9E-47B9-B8D8-920FDEF183CB}" type="datetimeFigureOut">
              <a:rPr lang="en-IN" smtClean="0"/>
              <a:t>18-03-2026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226347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DCA47FB-2F9E-47B9-B8D8-920FDEF183CB}" type="datetimeFigureOut">
              <a:rPr lang="en-IN" smtClean="0"/>
              <a:t>18-03-2026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240892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DCA47FB-2F9E-47B9-B8D8-920FDEF183CB}" type="datetimeFigureOut">
              <a:rPr lang="en-IN" smtClean="0"/>
              <a:t>18-03-2026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3662392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DCA47FB-2F9E-47B9-B8D8-920FDEF183CB}"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3738598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DCA47FB-2F9E-47B9-B8D8-920FDEF183CB}" type="datetimeFigureOut">
              <a:rPr lang="en-IN" smtClean="0"/>
              <a:t>18-03-2026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E69AA4-7999-46AB-9E3A-9415C7FCDF57}" type="slidenum">
              <a:rPr lang="en-IN" smtClean="0"/>
              <a:t>‹#›</a:t>
            </a:fld>
            <a:endParaRPr lang="en-IN"/>
          </a:p>
        </p:txBody>
      </p:sp>
    </p:spTree>
    <p:extLst>
      <p:ext uri="{BB962C8B-B14F-4D97-AF65-F5344CB8AC3E}">
        <p14:creationId xmlns:p14="http://schemas.microsoft.com/office/powerpoint/2010/main" val="2337098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A47FB-2F9E-47B9-B8D8-920FDEF183CB}" type="datetimeFigureOut">
              <a:rPr lang="en-IN" smtClean="0"/>
              <a:t>18-03-2026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E69AA4-7999-46AB-9E3A-9415C7FCDF57}" type="slidenum">
              <a:rPr lang="en-IN" smtClean="0"/>
              <a:t>‹#›</a:t>
            </a:fld>
            <a:endParaRPr lang="en-IN"/>
          </a:p>
        </p:txBody>
      </p:sp>
    </p:spTree>
    <p:extLst>
      <p:ext uri="{BB962C8B-B14F-4D97-AF65-F5344CB8AC3E}">
        <p14:creationId xmlns:p14="http://schemas.microsoft.com/office/powerpoint/2010/main" val="2191892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66718" y="3574350"/>
            <a:ext cx="1258563" cy="369332"/>
          </a:xfrm>
          <a:prstGeom prst="rect">
            <a:avLst/>
          </a:prstGeom>
        </p:spPr>
        <p:txBody>
          <a:bodyPr wrap="square">
            <a:spAutoFit/>
          </a:bodyPr>
          <a:lstStyle/>
          <a:p>
            <a:r>
              <a:rPr lang="en-IN" b="1" i="0" dirty="0">
                <a:solidFill>
                  <a:srgbClr val="000000"/>
                </a:solidFill>
                <a:effectLst/>
                <a:latin typeface="Calibri" panose="020F0502020204030204" pitchFamily="34" charset="0"/>
              </a:rPr>
              <a:t>Review 1</a:t>
            </a:r>
            <a:endParaRPr lang="en-IN" dirty="0"/>
          </a:p>
        </p:txBody>
      </p:sp>
      <p:sp>
        <p:nvSpPr>
          <p:cNvPr id="5" name="Rectangle 4"/>
          <p:cNvSpPr/>
          <p:nvPr/>
        </p:nvSpPr>
        <p:spPr>
          <a:xfrm>
            <a:off x="846306" y="1768363"/>
            <a:ext cx="10350229" cy="1384995"/>
          </a:xfrm>
          <a:prstGeom prst="rect">
            <a:avLst/>
          </a:prstGeom>
        </p:spPr>
        <p:txBody>
          <a:bodyPr wrap="square">
            <a:spAutoFit/>
          </a:bodyPr>
          <a:lstStyle/>
          <a:p>
            <a:pPr algn="ctr">
              <a:lnSpc>
                <a:spcPct val="150000"/>
              </a:lnSpc>
            </a:pPr>
            <a:r>
              <a:rPr lang="en-IN" sz="2000" b="1" dirty="0">
                <a:latin typeface="Arial" panose="020B0604020202020204" pitchFamily="34" charset="0"/>
                <a:cs typeface="Arial" panose="020B0604020202020204" pitchFamily="34" charset="0"/>
              </a:rPr>
              <a:t>SCHOOL OF COMPUTING</a:t>
            </a:r>
          </a:p>
          <a:p>
            <a:pPr algn="ctr">
              <a:lnSpc>
                <a:spcPct val="150000"/>
              </a:lnSpc>
            </a:pPr>
            <a:r>
              <a:rPr lang="en-IN" dirty="0"/>
              <a:t> </a:t>
            </a:r>
            <a:r>
              <a:rPr lang="en-IN" b="1" dirty="0">
                <a:latin typeface="Arial" panose="020B0604020202020204" pitchFamily="34" charset="0"/>
                <a:cs typeface="Arial" panose="020B0604020202020204" pitchFamily="34" charset="0"/>
              </a:rPr>
              <a:t>Department of Computer Science and Engineering with specialization in Artificial Intelligence and Machine Learning</a:t>
            </a:r>
          </a:p>
        </p:txBody>
      </p:sp>
      <p:sp>
        <p:nvSpPr>
          <p:cNvPr id="6" name="Rectangle 5"/>
          <p:cNvSpPr/>
          <p:nvPr/>
        </p:nvSpPr>
        <p:spPr>
          <a:xfrm>
            <a:off x="2712758" y="4014450"/>
            <a:ext cx="6617324" cy="461665"/>
          </a:xfrm>
          <a:prstGeom prst="rect">
            <a:avLst/>
          </a:prstGeom>
        </p:spPr>
        <p:txBody>
          <a:bodyPr wrap="none">
            <a:spAutoFit/>
          </a:bodyPr>
          <a:lstStyle/>
          <a:p>
            <a:r>
              <a:rPr lang="en-US" sz="2400" b="1" dirty="0">
                <a:latin typeface="Arial" panose="020B0604020202020204" pitchFamily="34" charset="0"/>
                <a:cs typeface="Arial" panose="020B0604020202020204" pitchFamily="34" charset="0"/>
              </a:rPr>
              <a:t>AI Investment Advisor for Stock Intelligence</a:t>
            </a:r>
            <a:endParaRPr lang="en-IN" sz="2400" b="1" dirty="0">
              <a:latin typeface="Arial" panose="020B0604020202020204" pitchFamily="34" charset="0"/>
              <a:cs typeface="Arial" panose="020B0604020202020204" pitchFamily="34" charset="0"/>
            </a:endParaRPr>
          </a:p>
        </p:txBody>
      </p:sp>
      <p:sp>
        <p:nvSpPr>
          <p:cNvPr id="7" name="Rectangle 6"/>
          <p:cNvSpPr/>
          <p:nvPr/>
        </p:nvSpPr>
        <p:spPr>
          <a:xfrm>
            <a:off x="743449" y="5399079"/>
            <a:ext cx="4163592" cy="1200329"/>
          </a:xfrm>
          <a:prstGeom prst="rect">
            <a:avLst/>
          </a:prstGeom>
        </p:spPr>
        <p:txBody>
          <a:bodyPr wrap="square">
            <a:spAutoFit/>
          </a:bodyPr>
          <a:lstStyle/>
          <a:p>
            <a:pPr>
              <a:lnSpc>
                <a:spcPct val="150000"/>
              </a:lnSpc>
            </a:pPr>
            <a:r>
              <a:rPr lang="en-IN" sz="1600" b="1" dirty="0">
                <a:latin typeface="Arial" panose="020B0604020202020204" pitchFamily="34" charset="0"/>
                <a:cs typeface="Arial" panose="020B0604020202020204" pitchFamily="34" charset="0"/>
              </a:rPr>
              <a:t>Team Members</a:t>
            </a:r>
          </a:p>
          <a:p>
            <a:pPr>
              <a:lnSpc>
                <a:spcPct val="150000"/>
              </a:lnSpc>
            </a:pPr>
            <a:r>
              <a:rPr lang="en-IN" sz="1600" dirty="0">
                <a:latin typeface="Arial" panose="020B0604020202020204" pitchFamily="34" charset="0"/>
                <a:cs typeface="Arial" panose="020B0604020202020204" pitchFamily="34" charset="0"/>
              </a:rPr>
              <a:t>Reshma G.V.S. , 43611113</a:t>
            </a:r>
          </a:p>
          <a:p>
            <a:pPr>
              <a:lnSpc>
                <a:spcPct val="150000"/>
              </a:lnSpc>
            </a:pPr>
            <a:r>
              <a:rPr lang="en-IN" sz="1600" dirty="0">
                <a:latin typeface="Arial" panose="020B0604020202020204" pitchFamily="34" charset="0"/>
                <a:cs typeface="Arial" panose="020B0604020202020204" pitchFamily="34" charset="0"/>
              </a:rPr>
              <a:t>Reena Sherley S ,43611112</a:t>
            </a:r>
          </a:p>
        </p:txBody>
      </p:sp>
      <p:sp>
        <p:nvSpPr>
          <p:cNvPr id="9" name="Rectangle 8"/>
          <p:cNvSpPr/>
          <p:nvPr/>
        </p:nvSpPr>
        <p:spPr>
          <a:xfrm>
            <a:off x="7634331" y="5422163"/>
            <a:ext cx="4392860" cy="1200329"/>
          </a:xfrm>
          <a:prstGeom prst="rect">
            <a:avLst/>
          </a:prstGeom>
        </p:spPr>
        <p:txBody>
          <a:bodyPr wrap="square">
            <a:spAutoFit/>
          </a:bodyPr>
          <a:lstStyle/>
          <a:p>
            <a:pPr>
              <a:lnSpc>
                <a:spcPct val="150000"/>
              </a:lnSpc>
            </a:pPr>
            <a:r>
              <a:rPr lang="en-IN" sz="1600" dirty="0">
                <a:latin typeface="Arial" panose="020B0604020202020204" pitchFamily="34" charset="0"/>
                <a:cs typeface="Arial" panose="020B0604020202020204" pitchFamily="34" charset="0"/>
              </a:rPr>
              <a:t>Guide Name : </a:t>
            </a:r>
            <a:r>
              <a:rPr lang="en-US" sz="1600" b="1" dirty="0">
                <a:solidFill>
                  <a:schemeClr val="tx1"/>
                </a:solidFill>
                <a:latin typeface="Arial" panose="020B0604020202020204" pitchFamily="34" charset="0"/>
                <a:cs typeface="Arial" panose="020B0604020202020204" pitchFamily="34" charset="0"/>
              </a:rPr>
              <a:t>Dr. S. Sreeji, M.E., Ph.D.,</a:t>
            </a:r>
            <a:endParaRPr lang="en-IN" sz="1600" dirty="0">
              <a:latin typeface="Arial" panose="020B0604020202020204" pitchFamily="34" charset="0"/>
              <a:cs typeface="Arial" panose="020B0604020202020204" pitchFamily="34" charset="0"/>
            </a:endParaRPr>
          </a:p>
          <a:p>
            <a:pPr>
              <a:lnSpc>
                <a:spcPct val="150000"/>
              </a:lnSpc>
            </a:pPr>
            <a:r>
              <a:rPr lang="en-IN" sz="1600" dirty="0">
                <a:latin typeface="Arial" panose="020B0604020202020204" pitchFamily="34" charset="0"/>
                <a:cs typeface="Arial" panose="020B0604020202020204" pitchFamily="34" charset="0"/>
              </a:rPr>
              <a:t>Designation:  Assistant Professor</a:t>
            </a:r>
          </a:p>
          <a:p>
            <a:pPr>
              <a:lnSpc>
                <a:spcPct val="150000"/>
              </a:lnSpc>
            </a:pPr>
            <a:r>
              <a:rPr lang="en-IN" sz="1600" dirty="0">
                <a:latin typeface="Arial" panose="020B0604020202020204" pitchFamily="34" charset="0"/>
                <a:cs typeface="Arial" panose="020B0604020202020204" pitchFamily="34" charset="0"/>
              </a:rPr>
              <a:t>Department:  CSE</a:t>
            </a:r>
          </a:p>
        </p:txBody>
      </p:sp>
      <p:sp>
        <p:nvSpPr>
          <p:cNvPr id="10" name="Rectangle 9"/>
          <p:cNvSpPr/>
          <p:nvPr/>
        </p:nvSpPr>
        <p:spPr>
          <a:xfrm>
            <a:off x="4786150" y="5761551"/>
            <a:ext cx="2962789" cy="830997"/>
          </a:xfrm>
          <a:prstGeom prst="rect">
            <a:avLst/>
          </a:prstGeom>
        </p:spPr>
        <p:txBody>
          <a:bodyPr wrap="square">
            <a:spAutoFit/>
          </a:bodyPr>
          <a:lstStyle/>
          <a:p>
            <a:r>
              <a:rPr lang="en-IN" sz="1600" dirty="0">
                <a:latin typeface="Arial" panose="020B0604020202020204" pitchFamily="34" charset="0"/>
                <a:cs typeface="Arial" panose="020B0604020202020204" pitchFamily="34" charset="0"/>
              </a:rPr>
              <a:t>Batch No: </a:t>
            </a:r>
          </a:p>
          <a:p>
            <a:endParaRPr lang="en-IN" sz="1600" dirty="0">
              <a:latin typeface="Arial" panose="020B0604020202020204" pitchFamily="34" charset="0"/>
              <a:cs typeface="Arial" panose="020B0604020202020204" pitchFamily="34" charset="0"/>
            </a:endParaRPr>
          </a:p>
          <a:p>
            <a:r>
              <a:rPr lang="en-IN" sz="1600" dirty="0">
                <a:latin typeface="Arial" panose="020B0604020202020204" pitchFamily="34" charset="0"/>
                <a:cs typeface="Arial" panose="020B0604020202020204" pitchFamily="34" charset="0"/>
              </a:rPr>
              <a:t>Date of Review: 18/03/2026</a:t>
            </a:r>
          </a:p>
        </p:txBody>
      </p:sp>
      <p:sp>
        <p:nvSpPr>
          <p:cNvPr id="11" name="Rectangle 10"/>
          <p:cNvSpPr/>
          <p:nvPr/>
        </p:nvSpPr>
        <p:spPr>
          <a:xfrm>
            <a:off x="4284465" y="3252235"/>
            <a:ext cx="3603615" cy="400110"/>
          </a:xfrm>
          <a:prstGeom prst="rect">
            <a:avLst/>
          </a:prstGeom>
        </p:spPr>
        <p:txBody>
          <a:bodyPr wrap="none">
            <a:spAutoFit/>
          </a:bodyPr>
          <a:lstStyle/>
          <a:p>
            <a:r>
              <a:rPr lang="en-IN" sz="2000" b="1" i="0" dirty="0">
                <a:solidFill>
                  <a:srgbClr val="FF0000"/>
                </a:solidFill>
                <a:effectLst/>
                <a:latin typeface="Arial Black" panose="020B0A04020102020204" pitchFamily="34" charset="0"/>
              </a:rPr>
              <a:t>Interdisciplinary Project</a:t>
            </a:r>
          </a:p>
        </p:txBody>
      </p:sp>
      <p:pic>
        <p:nvPicPr>
          <p:cNvPr id="12" name="Picture 11"/>
          <p:cNvPicPr/>
          <p:nvPr/>
        </p:nvPicPr>
        <p:blipFill>
          <a:blip r:embed="rId2"/>
          <a:stretch>
            <a:fillRect/>
          </a:stretch>
        </p:blipFill>
        <p:spPr>
          <a:xfrm>
            <a:off x="2932251" y="31411"/>
            <a:ext cx="5942330" cy="1723390"/>
          </a:xfrm>
          <a:prstGeom prst="rect">
            <a:avLst/>
          </a:prstGeom>
        </p:spPr>
      </p:pic>
    </p:spTree>
    <p:extLst>
      <p:ext uri="{BB962C8B-B14F-4D97-AF65-F5344CB8AC3E}">
        <p14:creationId xmlns:p14="http://schemas.microsoft.com/office/powerpoint/2010/main" val="3344574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2632" y="702877"/>
            <a:ext cx="10761642" cy="5632311"/>
          </a:xfrm>
          <a:prstGeom prst="rect">
            <a:avLst/>
          </a:prstGeom>
        </p:spPr>
        <p:txBody>
          <a:bodyPr wrap="square">
            <a:spAutoFit/>
          </a:bodyPr>
          <a:lstStyle/>
          <a:p>
            <a:r>
              <a:rPr lang="en-IN" sz="2400" b="1" dirty="0">
                <a:latin typeface="Arial" panose="020B0604020202020204" pitchFamily="34" charset="0"/>
                <a:cs typeface="Arial" panose="020B0604020202020204" pitchFamily="34" charset="0"/>
              </a:rPr>
              <a:t>1. Abstract</a:t>
            </a:r>
          </a:p>
          <a:p>
            <a:endParaRPr lang="en-IN" sz="2400" b="1" dirty="0">
              <a:latin typeface="Arial" panose="020B0604020202020204" pitchFamily="34" charset="0"/>
              <a:cs typeface="Arial" panose="020B0604020202020204" pitchFamily="34" charset="0"/>
            </a:endParaRPr>
          </a:p>
          <a:p>
            <a:pPr algn="just"/>
            <a:r>
              <a:rPr lang="en-US" sz="2400" dirty="0"/>
              <a:t>AI Investment Advisor is a multi-agent system built with </a:t>
            </a:r>
            <a:r>
              <a:rPr lang="en-US" sz="2400" dirty="0" err="1"/>
              <a:t>CrewAI</a:t>
            </a:r>
            <a:r>
              <a:rPr lang="en-US" sz="2400" dirty="0"/>
              <a:t> that replicates a professional equity research workflow. Four specialized agents collaborate to gather live market data, analyze financial risk, summarize relevant news, and produce a structured </a:t>
            </a:r>
            <a:r>
              <a:rPr lang="en-US" sz="2400" dirty="0" err="1"/>
              <a:t>Buy,Hold,Avoid</a:t>
            </a:r>
            <a:r>
              <a:rPr lang="en-US" sz="2400" dirty="0"/>
              <a:t> recommendation. The system is designed for explainability and reliability, with each agent operating within a clearly defined role and passing standardized outputs. It leverages cost efficient tools like Llama 3.1 (via Ollama) and free data APIs, making it practical for real world use by students and startups. </a:t>
            </a:r>
          </a:p>
          <a:p>
            <a:pPr algn="just"/>
            <a:endParaRPr lang="en-US" sz="2400" dirty="0"/>
          </a:p>
          <a:p>
            <a:pPr algn="just"/>
            <a:r>
              <a:rPr lang="en-US" sz="2400" dirty="0"/>
              <a:t>With Twilio integration, insights can be delivered directly through platforms like WhatsApp without altering the core system. </a:t>
            </a:r>
          </a:p>
          <a:p>
            <a:pPr algn="just"/>
            <a:endParaRPr lang="en-US" sz="2400" dirty="0"/>
          </a:p>
          <a:p>
            <a:pPr algn="just"/>
            <a:r>
              <a:rPr lang="en-US" sz="2400" dirty="0"/>
              <a:t>This project demonstrates how modular AI workflows can reduce errors, improve transparency, and scale into production ready investment research systems.</a:t>
            </a:r>
          </a:p>
        </p:txBody>
      </p:sp>
    </p:spTree>
    <p:extLst>
      <p:ext uri="{BB962C8B-B14F-4D97-AF65-F5344CB8AC3E}">
        <p14:creationId xmlns:p14="http://schemas.microsoft.com/office/powerpoint/2010/main" val="246103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89590" y="659518"/>
            <a:ext cx="10355926" cy="6117829"/>
          </a:xfrm>
          <a:prstGeom prst="rect">
            <a:avLst/>
          </a:prstGeom>
        </p:spPr>
        <p:txBody>
          <a:bodyPr wrap="square">
            <a:spAutoFit/>
          </a:bodyPr>
          <a:lstStyle/>
          <a:p>
            <a:pPr>
              <a:lnSpc>
                <a:spcPct val="150000"/>
              </a:lnSpc>
            </a:pPr>
            <a:r>
              <a:rPr lang="en-IN" sz="2400" b="1" dirty="0">
                <a:latin typeface="Arial" panose="020B0604020202020204" pitchFamily="34" charset="0"/>
                <a:cs typeface="Arial" panose="020B0604020202020204" pitchFamily="34" charset="0"/>
              </a:rPr>
              <a:t>2. Introduction </a:t>
            </a:r>
          </a:p>
          <a:p>
            <a:pPr algn="just">
              <a:lnSpc>
                <a:spcPct val="150000"/>
              </a:lnSpc>
            </a:pPr>
            <a:endParaRPr lang="en-IN" sz="2400" b="1" dirty="0">
              <a:latin typeface="Arial" panose="020B0604020202020204" pitchFamily="34" charset="0"/>
              <a:cs typeface="Arial" panose="020B0604020202020204" pitchFamily="34" charset="0"/>
            </a:endParaRPr>
          </a:p>
          <a:p>
            <a:pPr algn="just"/>
            <a:r>
              <a:rPr lang="en-US" sz="2400" b="1" dirty="0"/>
              <a:t>Background of the problem:</a:t>
            </a:r>
            <a:r>
              <a:rPr lang="en-US" sz="2400" dirty="0"/>
              <a:t> Individual investors and small advisory teams struggle to consolidate fast moving market, news, and risk signals without expensive research terminals.</a:t>
            </a:r>
          </a:p>
          <a:p>
            <a:pPr algn="just"/>
            <a:r>
              <a:rPr lang="en-US" sz="2400" b="1" dirty="0"/>
              <a:t>Importance of the project:</a:t>
            </a:r>
            <a:r>
              <a:rPr lang="en-US" sz="2400" dirty="0"/>
              <a:t> Automating the research desk workflow increases coverage, ensures consistent methodology, and frees analysts to focus on judgment rather than data wrangling.</a:t>
            </a:r>
          </a:p>
          <a:p>
            <a:pPr algn="just"/>
            <a:r>
              <a:rPr lang="en-US" sz="2400" b="1" dirty="0"/>
              <a:t>Real-world applications:</a:t>
            </a:r>
            <a:r>
              <a:rPr lang="en-US" sz="2400" dirty="0"/>
              <a:t> Retail brokerages, fintech dashboards, classroom trading labs, and WhatsApp notification bots can all consume the advisor’s structured recommendations.</a:t>
            </a:r>
          </a:p>
          <a:p>
            <a:pPr algn="just"/>
            <a:r>
              <a:rPr lang="en-US" sz="2400" b="1" dirty="0"/>
              <a:t>Scope of the project:</a:t>
            </a:r>
            <a:r>
              <a:rPr lang="en-US" sz="2400" dirty="0"/>
              <a:t> Deliver an end-to-end </a:t>
            </a:r>
            <a:r>
              <a:rPr lang="en-US" sz="2400" dirty="0" err="1"/>
              <a:t>CrewAI</a:t>
            </a:r>
            <a:r>
              <a:rPr lang="en-US" sz="2400" dirty="0"/>
              <a:t> pipeline , from data ingestion to final recommendation , that can be extended with new tools, LLM providers, or delivery channels.</a:t>
            </a:r>
          </a:p>
          <a:p>
            <a:pPr>
              <a:lnSpc>
                <a:spcPct val="150000"/>
              </a:lnSpc>
            </a:pPr>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6109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5787" y="487025"/>
            <a:ext cx="10647542" cy="6370975"/>
          </a:xfrm>
          <a:prstGeom prst="rect">
            <a:avLst/>
          </a:prstGeom>
        </p:spPr>
        <p:txBody>
          <a:bodyPr wrap="square">
            <a:spAutoFit/>
          </a:bodyPr>
          <a:lstStyle/>
          <a:p>
            <a:r>
              <a:rPr lang="en-IN" sz="2400" b="1" dirty="0">
                <a:latin typeface="Arial" panose="020B0604020202020204" pitchFamily="34" charset="0"/>
                <a:cs typeface="Arial" panose="020B0604020202020204" pitchFamily="34" charset="0"/>
              </a:rPr>
              <a:t>3. Problem Statement</a:t>
            </a:r>
          </a:p>
          <a:p>
            <a:endParaRPr lang="en-IN" sz="2400" b="1"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Retail investors and small advisory teams lack access to unified research platforms, forcing them to manually combine price data, news insights, and risk analysis. This fragmentation exists because professional grade tools are expensive, complex, and not designed for lightweight or real time use. As a result, decision making becomes slow, inconsistent, and prone to missed risks , especially in volatile markets where timing is critical.</a:t>
            </a:r>
          </a:p>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AI Investment Advisor solves this by using specialized </a:t>
            </a:r>
            <a:r>
              <a:rPr lang="en-US" sz="2400" dirty="0" err="1">
                <a:latin typeface="Arial" panose="020B0604020202020204" pitchFamily="34" charset="0"/>
                <a:cs typeface="Arial" panose="020B0604020202020204" pitchFamily="34" charset="0"/>
              </a:rPr>
              <a:t>CrewAI</a:t>
            </a:r>
            <a:r>
              <a:rPr lang="en-US" sz="2400" dirty="0">
                <a:latin typeface="Arial" panose="020B0604020202020204" pitchFamily="34" charset="0"/>
                <a:cs typeface="Arial" panose="020B0604020202020204" pitchFamily="34" charset="0"/>
              </a:rPr>
              <a:t> agents that handle market data, sentiment analysis, risk evaluation, and final recommendations in a structured workflow. By enforcing clear JSON based outputs and deterministic processes, it ensures transparency and reduces unreliable insights. The system delivers concise, real time recommendations, making high quality, data driven investment support accessible even with limited resources or expertise.</a:t>
            </a:r>
          </a:p>
          <a:p>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0710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00223" y="563549"/>
            <a:ext cx="10023415" cy="5262979"/>
          </a:xfrm>
          <a:prstGeom prst="rect">
            <a:avLst/>
          </a:prstGeom>
        </p:spPr>
        <p:txBody>
          <a:bodyPr wrap="square">
            <a:spAutoFit/>
          </a:bodyPr>
          <a:lstStyle/>
          <a:p>
            <a:r>
              <a:rPr lang="en-IN" sz="2400" b="1" dirty="0">
                <a:latin typeface="Arial" panose="020B0604020202020204" pitchFamily="34" charset="0"/>
                <a:cs typeface="Arial" panose="020B0604020202020204" pitchFamily="34" charset="0"/>
              </a:rPr>
              <a:t>4. Objectives</a:t>
            </a:r>
          </a:p>
          <a:p>
            <a:endParaRPr lang="en-IN" sz="2400"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Design a </a:t>
            </a:r>
            <a:r>
              <a:rPr lang="en-US" sz="2400" dirty="0" err="1">
                <a:latin typeface="Arial" panose="020B0604020202020204" pitchFamily="34" charset="0"/>
                <a:cs typeface="Arial" panose="020B0604020202020204" pitchFamily="34" charset="0"/>
              </a:rPr>
              <a:t>CrewAI</a:t>
            </a:r>
            <a:r>
              <a:rPr lang="en-US" sz="2400" dirty="0">
                <a:latin typeface="Arial" panose="020B0604020202020204" pitchFamily="34" charset="0"/>
                <a:cs typeface="Arial" panose="020B0604020202020204" pitchFamily="34" charset="0"/>
              </a:rPr>
              <a:t> based system that replicates a multi analyst investment research workflow.</a:t>
            </a:r>
          </a:p>
          <a:p>
            <a:pPr marL="342900" indent="-342900" algn="just">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Enhance the speed and consistency of equity recommendations using structured JSON handoffs.</a:t>
            </a:r>
          </a:p>
          <a:p>
            <a:pPr marL="342900" indent="-342900" algn="just">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Build a modular pipeline that integrates live market data, news sentiment, and risk analysis.</a:t>
            </a:r>
          </a:p>
          <a:p>
            <a:pPr marL="342900" indent="-342900" algn="just">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Enable scalable, low cost deployment using local LLMs, open APIs, and messaging integrations.</a:t>
            </a:r>
          </a:p>
          <a:p>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6112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72633" y="596551"/>
            <a:ext cx="8584018" cy="461665"/>
          </a:xfrm>
          <a:prstGeom prst="rect">
            <a:avLst/>
          </a:prstGeom>
        </p:spPr>
        <p:txBody>
          <a:bodyPr wrap="square">
            <a:spAutoFit/>
          </a:bodyPr>
          <a:lstStyle/>
          <a:p>
            <a:r>
              <a:rPr lang="en-IN" sz="2400" b="1" dirty="0">
                <a:latin typeface="Arial" panose="020B0604020202020204" pitchFamily="34" charset="0"/>
                <a:cs typeface="Arial" panose="020B0604020202020204" pitchFamily="34" charset="0"/>
              </a:rPr>
              <a:t>5. Literature Survey</a:t>
            </a:r>
          </a:p>
        </p:txBody>
      </p:sp>
      <p:graphicFrame>
        <p:nvGraphicFramePr>
          <p:cNvPr id="7" name="Table 6"/>
          <p:cNvGraphicFramePr>
            <a:graphicFrameLocks noGrp="1"/>
          </p:cNvGraphicFramePr>
          <p:nvPr>
            <p:extLst>
              <p:ext uri="{D42A27DB-BD31-4B8C-83A1-F6EECF244321}">
                <p14:modId xmlns:p14="http://schemas.microsoft.com/office/powerpoint/2010/main" val="414777948"/>
              </p:ext>
            </p:extLst>
          </p:nvPr>
        </p:nvGraphicFramePr>
        <p:xfrm>
          <a:off x="772633" y="1319752"/>
          <a:ext cx="10567813" cy="5096121"/>
        </p:xfrm>
        <a:graphic>
          <a:graphicData uri="http://schemas.openxmlformats.org/drawingml/2006/table">
            <a:tbl>
              <a:tblPr firstRow="1" bandRow="1">
                <a:tableStyleId>{616DA210-FB5B-4158-B5E0-FEB733F419BA}</a:tableStyleId>
              </a:tblPr>
              <a:tblGrid>
                <a:gridCol w="907222">
                  <a:extLst>
                    <a:ext uri="{9D8B030D-6E8A-4147-A177-3AD203B41FA5}">
                      <a16:colId xmlns:a16="http://schemas.microsoft.com/office/drawing/2014/main" val="1942959354"/>
                    </a:ext>
                  </a:extLst>
                </a:gridCol>
                <a:gridCol w="2110754">
                  <a:extLst>
                    <a:ext uri="{9D8B030D-6E8A-4147-A177-3AD203B41FA5}">
                      <a16:colId xmlns:a16="http://schemas.microsoft.com/office/drawing/2014/main" val="2117381610"/>
                    </a:ext>
                  </a:extLst>
                </a:gridCol>
                <a:gridCol w="2572484">
                  <a:extLst>
                    <a:ext uri="{9D8B030D-6E8A-4147-A177-3AD203B41FA5}">
                      <a16:colId xmlns:a16="http://schemas.microsoft.com/office/drawing/2014/main" val="532275516"/>
                    </a:ext>
                  </a:extLst>
                </a:gridCol>
                <a:gridCol w="2863790">
                  <a:extLst>
                    <a:ext uri="{9D8B030D-6E8A-4147-A177-3AD203B41FA5}">
                      <a16:colId xmlns:a16="http://schemas.microsoft.com/office/drawing/2014/main" val="3996996873"/>
                    </a:ext>
                  </a:extLst>
                </a:gridCol>
                <a:gridCol w="2113563">
                  <a:extLst>
                    <a:ext uri="{9D8B030D-6E8A-4147-A177-3AD203B41FA5}">
                      <a16:colId xmlns:a16="http://schemas.microsoft.com/office/drawing/2014/main" val="2447878828"/>
                    </a:ext>
                  </a:extLst>
                </a:gridCol>
              </a:tblGrid>
              <a:tr h="615561">
                <a:tc>
                  <a:txBody>
                    <a:bodyPr/>
                    <a:lstStyle/>
                    <a:p>
                      <a:pPr algn="ctr"/>
                      <a:r>
                        <a:rPr lang="en-IN" dirty="0"/>
                        <a:t>Sl.No</a:t>
                      </a:r>
                    </a:p>
                  </a:txBody>
                  <a:tcPr/>
                </a:tc>
                <a:tc>
                  <a:txBody>
                    <a:bodyPr/>
                    <a:lstStyle/>
                    <a:p>
                      <a:pPr algn="ctr"/>
                      <a:r>
                        <a:rPr lang="en-IN" dirty="0"/>
                        <a:t>Author and Year</a:t>
                      </a:r>
                    </a:p>
                  </a:txBody>
                  <a:tcPr/>
                </a:tc>
                <a:tc>
                  <a:txBody>
                    <a:bodyPr/>
                    <a:lstStyle/>
                    <a:p>
                      <a:pPr algn="ctr"/>
                      <a:r>
                        <a:rPr lang="en-IN" dirty="0"/>
                        <a:t>Title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Method Used</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Limitations</a:t>
                      </a:r>
                    </a:p>
                  </a:txBody>
                  <a:tcPr/>
                </a:tc>
                <a:extLst>
                  <a:ext uri="{0D108BD9-81ED-4DB2-BD59-A6C34878D82A}">
                    <a16:rowId xmlns:a16="http://schemas.microsoft.com/office/drawing/2014/main" val="447429517"/>
                  </a:ext>
                </a:extLst>
              </a:tr>
              <a:tr h="543124">
                <a:tc>
                  <a:txBody>
                    <a:bodyPr/>
                    <a:lstStyle/>
                    <a:p>
                      <a:r>
                        <a:rPr lang="en-IN" dirty="0"/>
                        <a:t>1</a:t>
                      </a:r>
                    </a:p>
                  </a:txBody>
                  <a:tcPr/>
                </a:tc>
                <a:tc>
                  <a:txBody>
                    <a:bodyPr/>
                    <a:lstStyle/>
                    <a:p>
                      <a:r>
                        <a:rPr lang="en-IN" sz="1800" b="0" i="0" kern="1200" dirty="0">
                          <a:solidFill>
                            <a:schemeClr val="tx1"/>
                          </a:solidFill>
                          <a:effectLst/>
                          <a:latin typeface="+mn-lt"/>
                          <a:ea typeface="+mn-ea"/>
                          <a:cs typeface="+mn-cs"/>
                        </a:rPr>
                        <a:t>Kim, 2003</a:t>
                      </a:r>
                      <a:endParaRPr lang="en-IN" dirty="0"/>
                    </a:p>
                  </a:txBody>
                  <a:tcPr/>
                </a:tc>
                <a:tc>
                  <a:txBody>
                    <a:bodyPr/>
                    <a:lstStyle/>
                    <a:p>
                      <a:r>
                        <a:rPr lang="en-US" sz="1800" b="0" i="0" kern="1200" dirty="0">
                          <a:solidFill>
                            <a:schemeClr val="tx1"/>
                          </a:solidFill>
                          <a:effectLst/>
                          <a:latin typeface="+mn-lt"/>
                          <a:ea typeface="+mn-ea"/>
                          <a:cs typeface="+mn-cs"/>
                        </a:rPr>
                        <a:t>Financial Time Series Forecasting Using SVM</a:t>
                      </a:r>
                      <a:endParaRPr lang="en-IN" dirty="0"/>
                    </a:p>
                  </a:txBody>
                  <a:tcPr/>
                </a:tc>
                <a:tc>
                  <a:txBody>
                    <a:bodyPr/>
                    <a:lstStyle/>
                    <a:p>
                      <a:r>
                        <a:rPr lang="en-US" sz="1800" b="0" i="0" kern="1200" dirty="0">
                          <a:solidFill>
                            <a:schemeClr val="tx1"/>
                          </a:solidFill>
                          <a:effectLst/>
                          <a:latin typeface="+mn-lt"/>
                          <a:ea typeface="+mn-ea"/>
                          <a:cs typeface="+mn-cs"/>
                        </a:rPr>
                        <a:t>SVM-based classifier for stock direction</a:t>
                      </a:r>
                      <a:endParaRPr lang="en-IN" dirty="0"/>
                    </a:p>
                  </a:txBody>
                  <a:tcPr/>
                </a:tc>
                <a:tc>
                  <a:txBody>
                    <a:bodyPr/>
                    <a:lstStyle/>
                    <a:p>
                      <a:r>
                        <a:rPr lang="en-US" sz="1800" b="0" i="0" kern="1200" dirty="0">
                          <a:solidFill>
                            <a:schemeClr val="tx1"/>
                          </a:solidFill>
                          <a:effectLst/>
                          <a:latin typeface="+mn-lt"/>
                          <a:ea typeface="+mn-ea"/>
                          <a:cs typeface="+mn-cs"/>
                        </a:rPr>
                        <a:t>Requires heavy feature engineering; binary outputs lack narrative explanations</a:t>
                      </a:r>
                      <a:endParaRPr lang="en-IN" dirty="0"/>
                    </a:p>
                  </a:txBody>
                  <a:tcPr/>
                </a:tc>
                <a:extLst>
                  <a:ext uri="{0D108BD9-81ED-4DB2-BD59-A6C34878D82A}">
                    <a16:rowId xmlns:a16="http://schemas.microsoft.com/office/drawing/2014/main" val="2055977596"/>
                  </a:ext>
                </a:extLst>
              </a:tr>
              <a:tr h="543124">
                <a:tc>
                  <a:txBody>
                    <a:bodyPr/>
                    <a:lstStyle/>
                    <a:p>
                      <a:r>
                        <a:rPr lang="en-IN" dirty="0"/>
                        <a:t>2</a:t>
                      </a:r>
                    </a:p>
                  </a:txBody>
                  <a:tcPr/>
                </a:tc>
                <a:tc>
                  <a:txBody>
                    <a:bodyPr/>
                    <a:lstStyle/>
                    <a:p>
                      <a:r>
                        <a:rPr lang="en-IN" sz="1800" b="0" i="0" kern="1200" dirty="0">
                          <a:solidFill>
                            <a:schemeClr val="tx1"/>
                          </a:solidFill>
                          <a:effectLst/>
                          <a:latin typeface="+mn-lt"/>
                          <a:ea typeface="+mn-ea"/>
                          <a:cs typeface="+mn-cs"/>
                        </a:rPr>
                        <a:t>Jegadeesh &amp; Titman, 2001</a:t>
                      </a:r>
                      <a:endParaRPr lang="en-IN" dirty="0"/>
                    </a:p>
                  </a:txBody>
                  <a:tcPr/>
                </a:tc>
                <a:tc>
                  <a:txBody>
                    <a:bodyPr/>
                    <a:lstStyle/>
                    <a:p>
                      <a:r>
                        <a:rPr lang="en-IN" sz="1800" b="0" i="0" kern="1200" dirty="0">
                          <a:solidFill>
                            <a:schemeClr val="tx1"/>
                          </a:solidFill>
                          <a:effectLst/>
                          <a:latin typeface="+mn-lt"/>
                          <a:ea typeface="+mn-ea"/>
                          <a:cs typeface="+mn-cs"/>
                        </a:rPr>
                        <a:t>Profitability of Momentum Strategies</a:t>
                      </a:r>
                      <a:endParaRPr lang="en-IN" dirty="0"/>
                    </a:p>
                  </a:txBody>
                  <a:tcPr/>
                </a:tc>
                <a:tc>
                  <a:txBody>
                    <a:bodyPr/>
                    <a:lstStyle/>
                    <a:p>
                      <a:r>
                        <a:rPr lang="en-US" sz="1800" b="0" i="0" kern="1200" dirty="0">
                          <a:solidFill>
                            <a:schemeClr val="tx1"/>
                          </a:solidFill>
                          <a:effectLst/>
                          <a:latin typeface="+mn-lt"/>
                          <a:ea typeface="+mn-ea"/>
                          <a:cs typeface="+mn-cs"/>
                        </a:rPr>
                        <a:t>Empirical study of momentum-based trading</a:t>
                      </a:r>
                      <a:endParaRPr lang="en-IN" dirty="0"/>
                    </a:p>
                  </a:txBody>
                  <a:tcPr/>
                </a:tc>
                <a:tc>
                  <a:txBody>
                    <a:bodyPr/>
                    <a:lstStyle/>
                    <a:p>
                      <a:r>
                        <a:rPr lang="en-US" sz="1800" b="0" i="0" kern="1200" dirty="0">
                          <a:solidFill>
                            <a:schemeClr val="tx1"/>
                          </a:solidFill>
                          <a:effectLst/>
                          <a:latin typeface="+mn-lt"/>
                          <a:ea typeface="+mn-ea"/>
                          <a:cs typeface="+mn-cs"/>
                        </a:rPr>
                        <a:t>Provides descriptive insights but not an automated advisory workflow</a:t>
                      </a:r>
                      <a:endParaRPr lang="en-IN" dirty="0"/>
                    </a:p>
                  </a:txBody>
                  <a:tcPr/>
                </a:tc>
                <a:extLst>
                  <a:ext uri="{0D108BD9-81ED-4DB2-BD59-A6C34878D82A}">
                    <a16:rowId xmlns:a16="http://schemas.microsoft.com/office/drawing/2014/main" val="27355434"/>
                  </a:ext>
                </a:extLst>
              </a:tr>
              <a:tr h="543124">
                <a:tc>
                  <a:txBody>
                    <a:bodyPr/>
                    <a:lstStyle/>
                    <a:p>
                      <a:r>
                        <a:rPr lang="en-IN" dirty="0"/>
                        <a:t>3</a:t>
                      </a:r>
                    </a:p>
                  </a:txBody>
                  <a:tcPr/>
                </a:tc>
                <a:tc>
                  <a:txBody>
                    <a:bodyPr/>
                    <a:lstStyle/>
                    <a:p>
                      <a:r>
                        <a:rPr lang="en-IN" sz="1800" b="0" i="0" kern="1200" dirty="0">
                          <a:solidFill>
                            <a:schemeClr val="tx1"/>
                          </a:solidFill>
                          <a:effectLst/>
                          <a:latin typeface="+mn-lt"/>
                          <a:ea typeface="+mn-ea"/>
                          <a:cs typeface="+mn-cs"/>
                        </a:rPr>
                        <a:t>Wang &amp; Kim, 2019</a:t>
                      </a:r>
                      <a:endParaRPr lang="en-IN" dirty="0"/>
                    </a:p>
                  </a:txBody>
                  <a:tcPr/>
                </a:tc>
                <a:tc>
                  <a:txBody>
                    <a:bodyPr/>
                    <a:lstStyle/>
                    <a:p>
                      <a:r>
                        <a:rPr lang="en-US" sz="1800" b="0" i="0" kern="1200" dirty="0">
                          <a:solidFill>
                            <a:schemeClr val="tx1"/>
                          </a:solidFill>
                          <a:effectLst/>
                          <a:latin typeface="+mn-lt"/>
                          <a:ea typeface="+mn-ea"/>
                          <a:cs typeface="+mn-cs"/>
                        </a:rPr>
                        <a:t>Investment Recommendation via Knowledge Graphs</a:t>
                      </a:r>
                      <a:endParaRPr lang="en-IN" dirty="0"/>
                    </a:p>
                  </a:txBody>
                  <a:tcPr/>
                </a:tc>
                <a:tc>
                  <a:txBody>
                    <a:bodyPr/>
                    <a:lstStyle/>
                    <a:p>
                      <a:r>
                        <a:rPr lang="en-IN" sz="1800" b="0" i="0" kern="1200" dirty="0">
                          <a:solidFill>
                            <a:schemeClr val="tx1"/>
                          </a:solidFill>
                          <a:effectLst/>
                          <a:latin typeface="+mn-lt"/>
                          <a:ea typeface="+mn-ea"/>
                          <a:cs typeface="+mn-cs"/>
                        </a:rPr>
                        <a:t>NLP + knowledge graph reasoning</a:t>
                      </a:r>
                      <a:endParaRPr lang="en-IN" dirty="0"/>
                    </a:p>
                  </a:txBody>
                  <a:tcPr/>
                </a:tc>
                <a:tc>
                  <a:txBody>
                    <a:bodyPr/>
                    <a:lstStyle/>
                    <a:p>
                      <a:r>
                        <a:rPr lang="en-IN" sz="1800" b="0" i="0" kern="1200" dirty="0">
                          <a:solidFill>
                            <a:schemeClr val="tx1"/>
                          </a:solidFill>
                          <a:effectLst/>
                          <a:latin typeface="+mn-lt"/>
                          <a:ea typeface="+mn-ea"/>
                          <a:cs typeface="+mn-cs"/>
                        </a:rPr>
                        <a:t>Dependent on curated ontologies</a:t>
                      </a:r>
                      <a:endParaRPr lang="en-IN" dirty="0"/>
                    </a:p>
                  </a:txBody>
                  <a:tcPr/>
                </a:tc>
                <a:extLst>
                  <a:ext uri="{0D108BD9-81ED-4DB2-BD59-A6C34878D82A}">
                    <a16:rowId xmlns:a16="http://schemas.microsoft.com/office/drawing/2014/main" val="1402023038"/>
                  </a:ext>
                </a:extLst>
              </a:tr>
              <a:tr h="543124">
                <a:tc>
                  <a:txBody>
                    <a:bodyPr/>
                    <a:lstStyle/>
                    <a:p>
                      <a:r>
                        <a:rPr lang="en-IN" dirty="0"/>
                        <a:t>4</a:t>
                      </a:r>
                    </a:p>
                  </a:txBody>
                  <a:tcPr/>
                </a:tc>
                <a:tc>
                  <a:txBody>
                    <a:bodyPr/>
                    <a:lstStyle/>
                    <a:p>
                      <a:r>
                        <a:rPr lang="en-IN" sz="1800" b="0" i="0" kern="1200" dirty="0">
                          <a:solidFill>
                            <a:schemeClr val="tx1"/>
                          </a:solidFill>
                          <a:effectLst/>
                          <a:latin typeface="+mn-lt"/>
                          <a:ea typeface="+mn-ea"/>
                          <a:cs typeface="+mn-cs"/>
                        </a:rPr>
                        <a:t>Zhang et al., 2020</a:t>
                      </a:r>
                      <a:endParaRPr lang="en-IN" dirty="0"/>
                    </a:p>
                  </a:txBody>
                  <a:tcPr/>
                </a:tc>
                <a:tc>
                  <a:txBody>
                    <a:bodyPr/>
                    <a:lstStyle/>
                    <a:p>
                      <a:r>
                        <a:rPr lang="en-US" sz="1800" b="0" i="0" kern="1200" dirty="0">
                          <a:solidFill>
                            <a:schemeClr val="tx1"/>
                          </a:solidFill>
                          <a:effectLst/>
                          <a:latin typeface="+mn-lt"/>
                          <a:ea typeface="+mn-ea"/>
                          <a:cs typeface="+mn-cs"/>
                        </a:rPr>
                        <a:t>Explainable AI for Portfolio Management</a:t>
                      </a:r>
                      <a:endParaRPr lang="en-IN" dirty="0"/>
                    </a:p>
                  </a:txBody>
                  <a:tcPr/>
                </a:tc>
                <a:tc>
                  <a:txBody>
                    <a:bodyPr/>
                    <a:lstStyle/>
                    <a:p>
                      <a:r>
                        <a:rPr lang="en-IN" sz="1800" b="0" i="0" kern="1200" dirty="0">
                          <a:solidFill>
                            <a:schemeClr val="tx1"/>
                          </a:solidFill>
                          <a:effectLst/>
                          <a:latin typeface="+mn-lt"/>
                          <a:ea typeface="+mn-ea"/>
                          <a:cs typeface="+mn-cs"/>
                        </a:rPr>
                        <a:t>RL with attention-based explanations</a:t>
                      </a:r>
                      <a:endParaRPr lang="en-IN" dirty="0"/>
                    </a:p>
                  </a:txBody>
                  <a:tcPr/>
                </a:tc>
                <a:tc>
                  <a:txBody>
                    <a:bodyPr/>
                    <a:lstStyle/>
                    <a:p>
                      <a:r>
                        <a:rPr lang="en-US" sz="1800" b="0" i="0" kern="1200" dirty="0">
                          <a:solidFill>
                            <a:schemeClr val="tx1"/>
                          </a:solidFill>
                          <a:effectLst/>
                          <a:latin typeface="+mn-lt"/>
                          <a:ea typeface="+mn-ea"/>
                          <a:cs typeface="+mn-cs"/>
                        </a:rPr>
                        <a:t>Training cost and complex reward tuning</a:t>
                      </a:r>
                      <a:endParaRPr lang="en-IN" dirty="0"/>
                    </a:p>
                  </a:txBody>
                  <a:tcPr/>
                </a:tc>
                <a:extLst>
                  <a:ext uri="{0D108BD9-81ED-4DB2-BD59-A6C34878D82A}">
                    <a16:rowId xmlns:a16="http://schemas.microsoft.com/office/drawing/2014/main" val="819716977"/>
                  </a:ext>
                </a:extLst>
              </a:tr>
            </a:tbl>
          </a:graphicData>
        </a:graphic>
      </p:graphicFrame>
    </p:spTree>
    <p:extLst>
      <p:ext uri="{BB962C8B-B14F-4D97-AF65-F5344CB8AC3E}">
        <p14:creationId xmlns:p14="http://schemas.microsoft.com/office/powerpoint/2010/main" val="287135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02003-D2F3-871D-5003-D010150AD00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46119F-9750-9F57-0E47-FD312AD4B218}"/>
              </a:ext>
            </a:extLst>
          </p:cNvPr>
          <p:cNvSpPr/>
          <p:nvPr/>
        </p:nvSpPr>
        <p:spPr>
          <a:xfrm>
            <a:off x="772633" y="596551"/>
            <a:ext cx="8584018" cy="461665"/>
          </a:xfrm>
          <a:prstGeom prst="rect">
            <a:avLst/>
          </a:prstGeom>
        </p:spPr>
        <p:txBody>
          <a:bodyPr wrap="square">
            <a:spAutoFit/>
          </a:bodyPr>
          <a:lstStyle/>
          <a:p>
            <a:r>
              <a:rPr lang="en-IN" sz="2400" b="1" dirty="0">
                <a:latin typeface="Arial" panose="020B0604020202020204" pitchFamily="34" charset="0"/>
                <a:cs typeface="Arial" panose="020B0604020202020204" pitchFamily="34" charset="0"/>
              </a:rPr>
              <a:t>5. Literature Survey</a:t>
            </a:r>
          </a:p>
        </p:txBody>
      </p:sp>
      <p:graphicFrame>
        <p:nvGraphicFramePr>
          <p:cNvPr id="7" name="Table 6">
            <a:extLst>
              <a:ext uri="{FF2B5EF4-FFF2-40B4-BE49-F238E27FC236}">
                <a16:creationId xmlns:a16="http://schemas.microsoft.com/office/drawing/2014/main" id="{0BC6E544-BA91-C0BC-79FB-FFD588A5E256}"/>
              </a:ext>
            </a:extLst>
          </p:cNvPr>
          <p:cNvGraphicFramePr>
            <a:graphicFrameLocks noGrp="1"/>
          </p:cNvGraphicFramePr>
          <p:nvPr>
            <p:extLst>
              <p:ext uri="{D42A27DB-BD31-4B8C-83A1-F6EECF244321}">
                <p14:modId xmlns:p14="http://schemas.microsoft.com/office/powerpoint/2010/main" val="4183105935"/>
              </p:ext>
            </p:extLst>
          </p:nvPr>
        </p:nvGraphicFramePr>
        <p:xfrm>
          <a:off x="835660" y="1480008"/>
          <a:ext cx="10520679" cy="4547481"/>
        </p:xfrm>
        <a:graphic>
          <a:graphicData uri="http://schemas.openxmlformats.org/drawingml/2006/table">
            <a:tbl>
              <a:tblPr firstRow="1" bandRow="1">
                <a:tableStyleId>{616DA210-FB5B-4158-B5E0-FEB733F419BA}</a:tableStyleId>
              </a:tblPr>
              <a:tblGrid>
                <a:gridCol w="903176">
                  <a:extLst>
                    <a:ext uri="{9D8B030D-6E8A-4147-A177-3AD203B41FA5}">
                      <a16:colId xmlns:a16="http://schemas.microsoft.com/office/drawing/2014/main" val="1942959354"/>
                    </a:ext>
                  </a:extLst>
                </a:gridCol>
                <a:gridCol w="1915803">
                  <a:extLst>
                    <a:ext uri="{9D8B030D-6E8A-4147-A177-3AD203B41FA5}">
                      <a16:colId xmlns:a16="http://schemas.microsoft.com/office/drawing/2014/main" val="2117381610"/>
                    </a:ext>
                  </a:extLst>
                </a:gridCol>
                <a:gridCol w="2922310">
                  <a:extLst>
                    <a:ext uri="{9D8B030D-6E8A-4147-A177-3AD203B41FA5}">
                      <a16:colId xmlns:a16="http://schemas.microsoft.com/office/drawing/2014/main" val="532275516"/>
                    </a:ext>
                  </a:extLst>
                </a:gridCol>
                <a:gridCol w="2582944">
                  <a:extLst>
                    <a:ext uri="{9D8B030D-6E8A-4147-A177-3AD203B41FA5}">
                      <a16:colId xmlns:a16="http://schemas.microsoft.com/office/drawing/2014/main" val="3996996873"/>
                    </a:ext>
                  </a:extLst>
                </a:gridCol>
                <a:gridCol w="2196446">
                  <a:extLst>
                    <a:ext uri="{9D8B030D-6E8A-4147-A177-3AD203B41FA5}">
                      <a16:colId xmlns:a16="http://schemas.microsoft.com/office/drawing/2014/main" val="2447878828"/>
                    </a:ext>
                  </a:extLst>
                </a:gridCol>
              </a:tblGrid>
              <a:tr h="615561">
                <a:tc>
                  <a:txBody>
                    <a:bodyPr/>
                    <a:lstStyle/>
                    <a:p>
                      <a:pPr algn="ctr"/>
                      <a:r>
                        <a:rPr lang="en-IN" dirty="0"/>
                        <a:t>Sl.No</a:t>
                      </a:r>
                    </a:p>
                  </a:txBody>
                  <a:tcPr/>
                </a:tc>
                <a:tc>
                  <a:txBody>
                    <a:bodyPr/>
                    <a:lstStyle/>
                    <a:p>
                      <a:pPr algn="ctr"/>
                      <a:r>
                        <a:rPr lang="en-IN" dirty="0"/>
                        <a:t>Author and Year</a:t>
                      </a:r>
                    </a:p>
                  </a:txBody>
                  <a:tcPr/>
                </a:tc>
                <a:tc>
                  <a:txBody>
                    <a:bodyPr/>
                    <a:lstStyle/>
                    <a:p>
                      <a:pPr algn="ctr"/>
                      <a:r>
                        <a:rPr lang="en-IN" dirty="0"/>
                        <a:t>Title </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Method Used</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dirty="0"/>
                        <a:t>Limitations</a:t>
                      </a:r>
                    </a:p>
                  </a:txBody>
                  <a:tcPr/>
                </a:tc>
                <a:extLst>
                  <a:ext uri="{0D108BD9-81ED-4DB2-BD59-A6C34878D82A}">
                    <a16:rowId xmlns:a16="http://schemas.microsoft.com/office/drawing/2014/main" val="447429517"/>
                  </a:ext>
                </a:extLst>
              </a:tr>
              <a:tr h="543124">
                <a:tc>
                  <a:txBody>
                    <a:bodyPr/>
                    <a:lstStyle/>
                    <a:p>
                      <a:r>
                        <a:rPr lang="en-IN" dirty="0"/>
                        <a:t>5</a:t>
                      </a:r>
                    </a:p>
                  </a:txBody>
                  <a:tcPr/>
                </a:tc>
                <a:tc>
                  <a:txBody>
                    <a:bodyPr/>
                    <a:lstStyle/>
                    <a:p>
                      <a:pPr fontAlgn="base">
                        <a:buNone/>
                      </a:pPr>
                      <a:r>
                        <a:rPr lang="en-IN" dirty="0">
                          <a:effectLst/>
                        </a:rPr>
                        <a:t>Li et al., 2021</a:t>
                      </a:r>
                    </a:p>
                  </a:txBody>
                  <a:tcPr anchor="ctr"/>
                </a:tc>
                <a:tc>
                  <a:txBody>
                    <a:bodyPr/>
                    <a:lstStyle/>
                    <a:p>
                      <a:r>
                        <a:rPr lang="en-US" sz="1800" b="0" i="0" kern="1200" dirty="0">
                          <a:solidFill>
                            <a:schemeClr val="tx1"/>
                          </a:solidFill>
                          <a:effectLst/>
                          <a:latin typeface="+mn-lt"/>
                          <a:ea typeface="+mn-ea"/>
                          <a:cs typeface="+mn-cs"/>
                        </a:rPr>
                        <a:t>Multimodal Deep Learning for Stock Movement</a:t>
                      </a:r>
                      <a:endParaRPr lang="en-IN" dirty="0"/>
                    </a:p>
                  </a:txBody>
                  <a:tcPr/>
                </a:tc>
                <a:tc>
                  <a:txBody>
                    <a:bodyPr/>
                    <a:lstStyle/>
                    <a:p>
                      <a:r>
                        <a:rPr lang="en-IN" sz="1800" b="0" i="0" kern="1200" dirty="0">
                          <a:solidFill>
                            <a:schemeClr val="tx1"/>
                          </a:solidFill>
                          <a:effectLst/>
                          <a:latin typeface="+mn-lt"/>
                          <a:ea typeface="+mn-ea"/>
                          <a:cs typeface="+mn-cs"/>
                        </a:rPr>
                        <a:t>Combines price and news embeddings</a:t>
                      </a:r>
                      <a:endParaRPr lang="en-IN" dirty="0"/>
                    </a:p>
                  </a:txBody>
                  <a:tcPr/>
                </a:tc>
                <a:tc>
                  <a:txBody>
                    <a:bodyPr/>
                    <a:lstStyle/>
                    <a:p>
                      <a:r>
                        <a:rPr lang="en-US" sz="1800" b="0" i="0" kern="1200" dirty="0">
                          <a:solidFill>
                            <a:schemeClr val="tx1"/>
                          </a:solidFill>
                          <a:effectLst/>
                          <a:latin typeface="+mn-lt"/>
                          <a:ea typeface="+mn-ea"/>
                          <a:cs typeface="+mn-cs"/>
                        </a:rPr>
                        <a:t>Hard to deploy; limited transparency</a:t>
                      </a:r>
                      <a:endParaRPr lang="en-IN" dirty="0"/>
                    </a:p>
                  </a:txBody>
                  <a:tcPr/>
                </a:tc>
                <a:extLst>
                  <a:ext uri="{0D108BD9-81ED-4DB2-BD59-A6C34878D82A}">
                    <a16:rowId xmlns:a16="http://schemas.microsoft.com/office/drawing/2014/main" val="930734271"/>
                  </a:ext>
                </a:extLst>
              </a:tr>
              <a:tr h="543124">
                <a:tc>
                  <a:txBody>
                    <a:bodyPr/>
                    <a:lstStyle/>
                    <a:p>
                      <a:r>
                        <a:rPr lang="en-IN" b="0" dirty="0"/>
                        <a:t>6</a:t>
                      </a:r>
                    </a:p>
                  </a:txBody>
                  <a:tcPr/>
                </a:tc>
                <a:tc>
                  <a:txBody>
                    <a:bodyPr/>
                    <a:lstStyle/>
                    <a:p>
                      <a:r>
                        <a:rPr lang="en-IN" sz="1800" b="0" i="0" kern="1200" dirty="0">
                          <a:solidFill>
                            <a:schemeClr val="tx1"/>
                          </a:solidFill>
                          <a:effectLst/>
                          <a:latin typeface="+mn-lt"/>
                          <a:ea typeface="+mn-ea"/>
                          <a:cs typeface="+mn-cs"/>
                        </a:rPr>
                        <a:t>Chen et al., 2025</a:t>
                      </a:r>
                      <a:endParaRPr lang="en-IN" b="0" dirty="0"/>
                    </a:p>
                  </a:txBody>
                  <a:tcPr/>
                </a:tc>
                <a:tc>
                  <a:txBody>
                    <a:bodyPr/>
                    <a:lstStyle/>
                    <a:p>
                      <a:r>
                        <a:rPr lang="en-US" sz="1800" b="0" i="0" kern="1200" dirty="0">
                          <a:solidFill>
                            <a:schemeClr val="tx1"/>
                          </a:solidFill>
                          <a:effectLst/>
                          <a:latin typeface="+mn-lt"/>
                          <a:ea typeface="+mn-ea"/>
                          <a:cs typeface="+mn-cs"/>
                        </a:rPr>
                        <a:t>Agentic LLM Pipelines for Financial Research</a:t>
                      </a:r>
                      <a:endParaRPr lang="en-IN" dirty="0"/>
                    </a:p>
                  </a:txBody>
                  <a:tcPr/>
                </a:tc>
                <a:tc>
                  <a:txBody>
                    <a:bodyPr/>
                    <a:lstStyle/>
                    <a:p>
                      <a:r>
                        <a:rPr lang="en-US" sz="1800" b="0" i="0" kern="1200" dirty="0">
                          <a:solidFill>
                            <a:schemeClr val="tx1"/>
                          </a:solidFill>
                          <a:effectLst/>
                          <a:latin typeface="+mn-lt"/>
                          <a:ea typeface="+mn-ea"/>
                          <a:cs typeface="+mn-cs"/>
                        </a:rPr>
                        <a:t>Multi agent </a:t>
                      </a:r>
                      <a:r>
                        <a:rPr lang="en-US" sz="1800" b="0" i="0" kern="1200" dirty="0" err="1">
                          <a:solidFill>
                            <a:schemeClr val="tx1"/>
                          </a:solidFill>
                          <a:effectLst/>
                          <a:latin typeface="+mn-lt"/>
                          <a:ea typeface="+mn-ea"/>
                          <a:cs typeface="+mn-cs"/>
                        </a:rPr>
                        <a:t>CrewAI</a:t>
                      </a:r>
                      <a:r>
                        <a:rPr lang="en-US" sz="1800" b="0" i="0" kern="1200" dirty="0">
                          <a:solidFill>
                            <a:schemeClr val="tx1"/>
                          </a:solidFill>
                          <a:effectLst/>
                          <a:latin typeface="+mn-lt"/>
                          <a:ea typeface="+mn-ea"/>
                          <a:cs typeface="+mn-cs"/>
                        </a:rPr>
                        <a:t> workflow integrating market</a:t>
                      </a:r>
                      <a:endParaRPr lang="en-IN" dirty="0"/>
                    </a:p>
                  </a:txBody>
                  <a:tcPr/>
                </a:tc>
                <a:tc>
                  <a:txBody>
                    <a:bodyPr/>
                    <a:lstStyle/>
                    <a:p>
                      <a:r>
                        <a:rPr lang="en-US" sz="1800" b="0" i="0" kern="1200" dirty="0">
                          <a:solidFill>
                            <a:schemeClr val="tx1"/>
                          </a:solidFill>
                          <a:effectLst/>
                          <a:latin typeface="+mn-lt"/>
                          <a:ea typeface="+mn-ea"/>
                          <a:cs typeface="+mn-cs"/>
                        </a:rPr>
                        <a:t>Tool configuration sensitive</a:t>
                      </a:r>
                      <a:endParaRPr lang="en-IN" dirty="0"/>
                    </a:p>
                  </a:txBody>
                  <a:tcPr/>
                </a:tc>
                <a:extLst>
                  <a:ext uri="{0D108BD9-81ED-4DB2-BD59-A6C34878D82A}">
                    <a16:rowId xmlns:a16="http://schemas.microsoft.com/office/drawing/2014/main" val="3081442372"/>
                  </a:ext>
                </a:extLst>
              </a:tr>
              <a:tr h="543124">
                <a:tc>
                  <a:txBody>
                    <a:bodyPr/>
                    <a:lstStyle/>
                    <a:p>
                      <a:r>
                        <a:rPr lang="en-IN" b="0" dirty="0"/>
                        <a:t>7</a:t>
                      </a:r>
                    </a:p>
                  </a:txBody>
                  <a:tcPr/>
                </a:tc>
                <a:tc>
                  <a:txBody>
                    <a:bodyPr/>
                    <a:lstStyle/>
                    <a:p>
                      <a:r>
                        <a:rPr lang="en-IN" sz="1800" b="0" i="0" kern="1200" dirty="0">
                          <a:solidFill>
                            <a:schemeClr val="tx1"/>
                          </a:solidFill>
                          <a:effectLst/>
                          <a:latin typeface="+mn-lt"/>
                          <a:ea typeface="+mn-ea"/>
                          <a:cs typeface="+mn-cs"/>
                        </a:rPr>
                        <a:t>Patel &amp; Roy, 2025</a:t>
                      </a:r>
                      <a:endParaRPr lang="en-IN" b="0" dirty="0"/>
                    </a:p>
                  </a:txBody>
                  <a:tcPr/>
                </a:tc>
                <a:tc>
                  <a:txBody>
                    <a:bodyPr/>
                    <a:lstStyle/>
                    <a:p>
                      <a:r>
                        <a:rPr lang="en-US" sz="1800" b="0" i="0" kern="1200" dirty="0">
                          <a:solidFill>
                            <a:schemeClr val="tx1"/>
                          </a:solidFill>
                          <a:effectLst/>
                          <a:latin typeface="+mn-lt"/>
                          <a:ea typeface="+mn-ea"/>
                          <a:cs typeface="+mn-cs"/>
                        </a:rPr>
                        <a:t>WhatsApp-Native Investment Advisors for Retail Investors</a:t>
                      </a:r>
                      <a:endParaRPr lang="en-IN" dirty="0"/>
                    </a:p>
                  </a:txBody>
                  <a:tcPr/>
                </a:tc>
                <a:tc>
                  <a:txBody>
                    <a:bodyPr/>
                    <a:lstStyle/>
                    <a:p>
                      <a:r>
                        <a:rPr lang="en-US" sz="1800" b="0" i="0" kern="1200" dirty="0">
                          <a:solidFill>
                            <a:schemeClr val="tx1"/>
                          </a:solidFill>
                          <a:effectLst/>
                          <a:latin typeface="+mn-lt"/>
                          <a:ea typeface="+mn-ea"/>
                          <a:cs typeface="+mn-cs"/>
                        </a:rPr>
                        <a:t>LLM reasoning and Twilio messaging automation</a:t>
                      </a:r>
                      <a:endParaRPr lang="en-IN" dirty="0"/>
                    </a:p>
                  </a:txBody>
                  <a:tcPr/>
                </a:tc>
                <a:tc>
                  <a:txBody>
                    <a:bodyPr/>
                    <a:lstStyle/>
                    <a:p>
                      <a:r>
                        <a:rPr lang="en-US" sz="1800" b="0" i="0" kern="1200" dirty="0">
                          <a:solidFill>
                            <a:schemeClr val="tx1"/>
                          </a:solidFill>
                          <a:effectLst/>
                          <a:latin typeface="+mn-lt"/>
                          <a:ea typeface="+mn-ea"/>
                          <a:cs typeface="+mn-cs"/>
                        </a:rPr>
                        <a:t>Regulatory compliance and personalization still manual</a:t>
                      </a:r>
                      <a:endParaRPr lang="en-IN" dirty="0"/>
                    </a:p>
                  </a:txBody>
                  <a:tcPr/>
                </a:tc>
                <a:extLst>
                  <a:ext uri="{0D108BD9-81ED-4DB2-BD59-A6C34878D82A}">
                    <a16:rowId xmlns:a16="http://schemas.microsoft.com/office/drawing/2014/main" val="263306539"/>
                  </a:ext>
                </a:extLst>
              </a:tr>
              <a:tr h="543124">
                <a:tc>
                  <a:txBody>
                    <a:bodyPr/>
                    <a:lstStyle/>
                    <a:p>
                      <a:r>
                        <a:rPr lang="en-IN" b="0" dirty="0"/>
                        <a:t>8</a:t>
                      </a:r>
                    </a:p>
                  </a:txBody>
                  <a:tcPr/>
                </a:tc>
                <a:tc>
                  <a:txBody>
                    <a:bodyPr/>
                    <a:lstStyle/>
                    <a:p>
                      <a:r>
                        <a:rPr lang="en-IN" sz="1800" b="0" i="0" kern="1200" dirty="0">
                          <a:solidFill>
                            <a:schemeClr val="tx1"/>
                          </a:solidFill>
                          <a:effectLst/>
                          <a:latin typeface="+mn-lt"/>
                          <a:ea typeface="+mn-ea"/>
                          <a:cs typeface="+mn-cs"/>
                        </a:rPr>
                        <a:t>Nguyen et al., 2026</a:t>
                      </a:r>
                      <a:endParaRPr lang="en-IN" b="0" dirty="0"/>
                    </a:p>
                  </a:txBody>
                  <a:tcPr/>
                </a:tc>
                <a:tc>
                  <a:txBody>
                    <a:bodyPr/>
                    <a:lstStyle/>
                    <a:p>
                      <a:r>
                        <a:rPr lang="en-US" sz="1800" b="0" i="0" kern="1200" dirty="0">
                          <a:solidFill>
                            <a:schemeClr val="tx1"/>
                          </a:solidFill>
                          <a:effectLst/>
                          <a:latin typeface="+mn-lt"/>
                          <a:ea typeface="+mn-ea"/>
                          <a:cs typeface="+mn-cs"/>
                        </a:rPr>
                        <a:t>Real-Time Risk Scoring with Deterministic-AI Hybrids</a:t>
                      </a:r>
                      <a:endParaRPr lang="en-IN" dirty="0"/>
                    </a:p>
                  </a:txBody>
                  <a:tcPr/>
                </a:tc>
                <a:tc>
                  <a:txBody>
                    <a:bodyPr/>
                    <a:lstStyle/>
                    <a:p>
                      <a:r>
                        <a:rPr lang="en-US" sz="1800" b="0" i="0" kern="1200" dirty="0">
                          <a:solidFill>
                            <a:schemeClr val="tx1"/>
                          </a:solidFill>
                          <a:effectLst/>
                          <a:latin typeface="+mn-lt"/>
                          <a:ea typeface="+mn-ea"/>
                          <a:cs typeface="+mn-cs"/>
                        </a:rPr>
                        <a:t>Rule based risk engine wrapped by LLM explainer</a:t>
                      </a:r>
                      <a:endParaRPr lang="en-IN" dirty="0"/>
                    </a:p>
                  </a:txBody>
                  <a:tcPr/>
                </a:tc>
                <a:tc>
                  <a:txBody>
                    <a:bodyPr/>
                    <a:lstStyle/>
                    <a:p>
                      <a:r>
                        <a:rPr lang="en-US" sz="1800" b="0" i="0" kern="1200" dirty="0">
                          <a:solidFill>
                            <a:schemeClr val="tx1"/>
                          </a:solidFill>
                          <a:effectLst/>
                          <a:latin typeface="+mn-lt"/>
                          <a:ea typeface="+mn-ea"/>
                          <a:cs typeface="+mn-cs"/>
                        </a:rPr>
                        <a:t>Requires constant rule maintenance; depends on high quality data feeds</a:t>
                      </a:r>
                      <a:endParaRPr lang="en-IN" dirty="0"/>
                    </a:p>
                  </a:txBody>
                  <a:tcPr/>
                </a:tc>
                <a:extLst>
                  <a:ext uri="{0D108BD9-81ED-4DB2-BD59-A6C34878D82A}">
                    <a16:rowId xmlns:a16="http://schemas.microsoft.com/office/drawing/2014/main" val="2124220198"/>
                  </a:ext>
                </a:extLst>
              </a:tr>
            </a:tbl>
          </a:graphicData>
        </a:graphic>
      </p:graphicFrame>
    </p:spTree>
    <p:extLst>
      <p:ext uri="{BB962C8B-B14F-4D97-AF65-F5344CB8AC3E}">
        <p14:creationId xmlns:p14="http://schemas.microsoft.com/office/powerpoint/2010/main" val="1233895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9590" y="659517"/>
            <a:ext cx="10908157" cy="5425331"/>
          </a:xfrm>
          <a:prstGeom prst="rect">
            <a:avLst/>
          </a:prstGeom>
        </p:spPr>
        <p:txBody>
          <a:bodyPr wrap="square">
            <a:spAutoFit/>
          </a:bodyPr>
          <a:lstStyle/>
          <a:p>
            <a:pPr>
              <a:lnSpc>
                <a:spcPct val="150000"/>
              </a:lnSpc>
            </a:pPr>
            <a:r>
              <a:rPr lang="en-IN" sz="2400" b="1" dirty="0">
                <a:latin typeface="Arial" panose="020B0604020202020204" pitchFamily="34" charset="0"/>
                <a:cs typeface="Arial" panose="020B0604020202020204" pitchFamily="34" charset="0"/>
              </a:rPr>
              <a:t>6. Proposed System</a:t>
            </a:r>
          </a:p>
          <a:p>
            <a:pPr>
              <a:lnSpc>
                <a:spcPct val="150000"/>
              </a:lnSpc>
            </a:pPr>
            <a:endParaRPr lang="en-US" b="1" dirty="0">
              <a:latin typeface="Arial" panose="020B0604020202020204" pitchFamily="34" charset="0"/>
              <a:cs typeface="Arial" panose="020B0604020202020204" pitchFamily="34" charset="0"/>
            </a:endParaRPr>
          </a:p>
          <a:p>
            <a:pPr algn="just">
              <a:lnSpc>
                <a:spcPct val="150000"/>
              </a:lnSpc>
            </a:pPr>
            <a:r>
              <a:rPr lang="en-US" sz="2400" dirty="0">
                <a:latin typeface="Arial" panose="020B0604020202020204" pitchFamily="34" charset="0"/>
                <a:cs typeface="Arial" panose="020B0604020202020204" pitchFamily="34" charset="0"/>
              </a:rPr>
              <a:t>The system takes a user input and processes it through four sequential </a:t>
            </a:r>
            <a:r>
              <a:rPr lang="en-US" sz="2400" dirty="0" err="1">
                <a:latin typeface="Arial" panose="020B0604020202020204" pitchFamily="34" charset="0"/>
                <a:cs typeface="Arial" panose="020B0604020202020204" pitchFamily="34" charset="0"/>
              </a:rPr>
              <a:t>CrewAI</a:t>
            </a:r>
            <a:r>
              <a:rPr lang="en-US" sz="2400" dirty="0">
                <a:latin typeface="Arial" panose="020B0604020202020204" pitchFamily="34" charset="0"/>
                <a:cs typeface="Arial" panose="020B0604020202020204" pitchFamily="34" charset="0"/>
              </a:rPr>
              <a:t> agents: Market Data, News Sentiment, Risk Analyzer, and Recommendation.</a:t>
            </a:r>
          </a:p>
          <a:p>
            <a:pPr algn="just">
              <a:lnSpc>
                <a:spcPct val="150000"/>
              </a:lnSpc>
            </a:pPr>
            <a:r>
              <a:rPr lang="en-US" sz="2400" dirty="0">
                <a:latin typeface="Arial" panose="020B0604020202020204" pitchFamily="34" charset="0"/>
                <a:cs typeface="Arial" panose="020B0604020202020204" pitchFamily="34" charset="0"/>
              </a:rPr>
              <a:t>Each agent operates with a clearly defined role, using specialized tools and prompts to generate focused outputs. These outputs are passed as structured JSON between agents, ensuring consistency and traceability. </a:t>
            </a: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The final result is consolidated into a single, auditable JSON verdict, which can also be formatted and delivered as a WhatsApp report for easy access.</a:t>
            </a:r>
          </a:p>
        </p:txBody>
      </p:sp>
    </p:spTree>
    <p:extLst>
      <p:ext uri="{BB962C8B-B14F-4D97-AF65-F5344CB8AC3E}">
        <p14:creationId xmlns:p14="http://schemas.microsoft.com/office/powerpoint/2010/main" val="2111014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ABE22-F0F4-330D-79CF-C88FCA1999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6BD1A50-C016-A5C0-62AA-231CED796338}"/>
              </a:ext>
            </a:extLst>
          </p:cNvPr>
          <p:cNvSpPr/>
          <p:nvPr/>
        </p:nvSpPr>
        <p:spPr>
          <a:xfrm>
            <a:off x="889590" y="659517"/>
            <a:ext cx="10908157" cy="5304016"/>
          </a:xfrm>
          <a:prstGeom prst="rect">
            <a:avLst/>
          </a:prstGeom>
        </p:spPr>
        <p:txBody>
          <a:bodyPr wrap="square">
            <a:spAutoFit/>
          </a:bodyPr>
          <a:lstStyle/>
          <a:p>
            <a:pPr>
              <a:lnSpc>
                <a:spcPct val="150000"/>
              </a:lnSpc>
            </a:pPr>
            <a:r>
              <a:rPr lang="en-IN" sz="2400" b="1" dirty="0">
                <a:latin typeface="Arial" panose="020B0604020202020204" pitchFamily="34" charset="0"/>
                <a:cs typeface="Arial" panose="020B0604020202020204" pitchFamily="34" charset="0"/>
              </a:rPr>
              <a:t>6. Proposed System</a:t>
            </a:r>
          </a:p>
          <a:p>
            <a:pPr>
              <a:lnSpc>
                <a:spcPct val="150000"/>
              </a:lnSpc>
            </a:pPr>
            <a:endParaRPr lang="en-US" b="1" dirty="0">
              <a:latin typeface="Arial" panose="020B0604020202020204" pitchFamily="34" charset="0"/>
              <a:cs typeface="Arial" panose="020B0604020202020204" pitchFamily="34" charset="0"/>
            </a:endParaRPr>
          </a:p>
          <a:p>
            <a:pPr algn="just">
              <a:lnSpc>
                <a:spcPct val="150000"/>
              </a:lnSpc>
            </a:pPr>
            <a:r>
              <a:rPr lang="en-US" sz="2400" b="1" dirty="0">
                <a:latin typeface="Arial" panose="020B0604020202020204" pitchFamily="34" charset="0"/>
                <a:cs typeface="Arial" panose="020B0604020202020204" pitchFamily="34" charset="0"/>
              </a:rPr>
              <a:t>How it Improves Existing Methods:</a:t>
            </a:r>
            <a:endParaRPr lang="en-US" sz="2400" dirty="0">
              <a:latin typeface="Arial" panose="020B0604020202020204" pitchFamily="34" charset="0"/>
              <a:cs typeface="Arial" panose="020B0604020202020204" pitchFamily="34" charset="0"/>
            </a:endParaRPr>
          </a:p>
          <a:p>
            <a:pPr algn="just">
              <a:lnSpc>
                <a:spcPct val="150000"/>
              </a:lnSpc>
            </a:pPr>
            <a:r>
              <a:rPr lang="en-US" sz="2400" dirty="0">
                <a:latin typeface="Arial" panose="020B0604020202020204" pitchFamily="34" charset="0"/>
                <a:cs typeface="Arial" panose="020B0604020202020204" pitchFamily="34" charset="0"/>
              </a:rPr>
              <a:t>Unlike traditional workflows that rely on manual data gathering and fragmented tools, this system automates the entire research pipeline. It eliminates copy-paste inefficiencies, enforces a consistent output structure, and grounds decisions in real-time data to reduce hallucinations. The result is faster, more reliable, and transparent investment insights, all at significantly lower operational cost.</a:t>
            </a:r>
          </a:p>
          <a:p>
            <a:pPr>
              <a:lnSpc>
                <a:spcPct val="150000"/>
              </a:lnSpc>
            </a:pP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2631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7E007-8739-930A-9379-B6F180D7D5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50483F8-6129-E485-DE6A-CD74A2C32018}"/>
              </a:ext>
            </a:extLst>
          </p:cNvPr>
          <p:cNvSpPr/>
          <p:nvPr/>
        </p:nvSpPr>
        <p:spPr>
          <a:xfrm>
            <a:off x="889590" y="659517"/>
            <a:ext cx="10908157" cy="6117829"/>
          </a:xfrm>
          <a:prstGeom prst="rect">
            <a:avLst/>
          </a:prstGeom>
        </p:spPr>
        <p:txBody>
          <a:bodyPr wrap="square">
            <a:spAutoFit/>
          </a:bodyPr>
          <a:lstStyle/>
          <a:p>
            <a:pPr>
              <a:lnSpc>
                <a:spcPct val="150000"/>
              </a:lnSpc>
            </a:pPr>
            <a:r>
              <a:rPr lang="en-IN" sz="2400" b="1" dirty="0">
                <a:latin typeface="Arial" panose="020B0604020202020204" pitchFamily="34" charset="0"/>
                <a:cs typeface="Arial" panose="020B0604020202020204" pitchFamily="34" charset="0"/>
              </a:rPr>
              <a:t>6. Proposed System</a:t>
            </a:r>
            <a:endParaRPr lang="en-US" sz="2400" b="1" dirty="0">
              <a:latin typeface="Arial" panose="020B0604020202020204" pitchFamily="34" charset="0"/>
              <a:cs typeface="Arial" panose="020B0604020202020204" pitchFamily="34" charset="0"/>
            </a:endParaRPr>
          </a:p>
          <a:p>
            <a:pPr>
              <a:lnSpc>
                <a:spcPct val="150000"/>
              </a:lnSpc>
            </a:pPr>
            <a:r>
              <a:rPr lang="en-US" sz="2400" b="1" dirty="0">
                <a:latin typeface="Arial" panose="020B0604020202020204" pitchFamily="34" charset="0"/>
                <a:cs typeface="Arial" panose="020B0604020202020204" pitchFamily="34" charset="0"/>
              </a:rPr>
              <a:t>Technologies Used:</a:t>
            </a:r>
          </a:p>
          <a:p>
            <a:pPr marL="342900" indent="-342900" algn="just">
              <a:lnSpc>
                <a:spcPct val="150000"/>
              </a:lnSpc>
              <a:buFont typeface="Arial" panose="020B0604020202020204" pitchFamily="34" charset="0"/>
              <a:buChar char="•"/>
            </a:pPr>
            <a:r>
              <a:rPr lang="en-IN" sz="2400" dirty="0" err="1">
                <a:latin typeface="Arial" panose="020B0604020202020204" pitchFamily="34" charset="0"/>
                <a:cs typeface="Arial" panose="020B0604020202020204" pitchFamily="34" charset="0"/>
              </a:rPr>
              <a:t>CrewAI</a:t>
            </a:r>
            <a:r>
              <a:rPr lang="en-IN" sz="2400" dirty="0">
                <a:latin typeface="Arial" panose="020B0604020202020204" pitchFamily="34" charset="0"/>
                <a:cs typeface="Arial" panose="020B0604020202020204" pitchFamily="34" charset="0"/>
              </a:rPr>
              <a:t> framework for multi-agent orchestration</a:t>
            </a:r>
          </a:p>
          <a:p>
            <a:pPr marL="342900" indent="-342900" algn="just">
              <a:lnSpc>
                <a:spcPct val="150000"/>
              </a:lnSpc>
              <a:buFont typeface="Arial" panose="020B0604020202020204" pitchFamily="34" charset="0"/>
              <a:buChar char="•"/>
            </a:pPr>
            <a:r>
              <a:rPr lang="en-IN" sz="2400" dirty="0" err="1">
                <a:latin typeface="Arial" panose="020B0604020202020204" pitchFamily="34" charset="0"/>
                <a:cs typeface="Arial" panose="020B0604020202020204" pitchFamily="34" charset="0"/>
              </a:rPr>
              <a:t>yfinance</a:t>
            </a:r>
            <a:r>
              <a:rPr lang="en-IN" sz="2400" dirty="0">
                <a:latin typeface="Arial" panose="020B0604020202020204" pitchFamily="34" charset="0"/>
                <a:cs typeface="Arial" panose="020B0604020202020204" pitchFamily="34" charset="0"/>
              </a:rPr>
              <a:t> API for real-time market data</a:t>
            </a:r>
          </a:p>
          <a:p>
            <a:pPr marL="342900" indent="-342900" algn="just">
              <a:lnSpc>
                <a:spcPct val="150000"/>
              </a:lnSpc>
              <a:buFont typeface="Arial" panose="020B0604020202020204" pitchFamily="34" charset="0"/>
              <a:buChar char="•"/>
            </a:pPr>
            <a:r>
              <a:rPr lang="en-IN" sz="2400" dirty="0" err="1">
                <a:latin typeface="Arial" panose="020B0604020202020204" pitchFamily="34" charset="0"/>
                <a:cs typeface="Arial" panose="020B0604020202020204" pitchFamily="34" charset="0"/>
              </a:rPr>
              <a:t>NewsAPI</a:t>
            </a:r>
            <a:r>
              <a:rPr lang="en-IN" sz="2400" dirty="0">
                <a:latin typeface="Arial" panose="020B0604020202020204" pitchFamily="34" charset="0"/>
                <a:cs typeface="Arial" panose="020B0604020202020204" pitchFamily="34" charset="0"/>
              </a:rPr>
              <a:t> for news aggregation and sentiment analysis</a:t>
            </a:r>
          </a:p>
          <a:p>
            <a:pPr marL="342900" indent="-342900" algn="just">
              <a:lnSpc>
                <a:spcPct val="150000"/>
              </a:lnSpc>
              <a:buFont typeface="Arial" panose="020B0604020202020204" pitchFamily="34" charset="0"/>
              <a:buChar char="•"/>
            </a:pPr>
            <a:r>
              <a:rPr lang="en-IN" sz="2400" dirty="0">
                <a:latin typeface="Arial" panose="020B0604020202020204" pitchFamily="34" charset="0"/>
                <a:cs typeface="Arial" panose="020B0604020202020204" pitchFamily="34" charset="0"/>
              </a:rPr>
              <a:t>Custom </a:t>
            </a:r>
            <a:r>
              <a:rPr lang="en-IN" sz="2400" dirty="0" err="1">
                <a:latin typeface="Arial" panose="020B0604020202020204" pitchFamily="34" charset="0"/>
                <a:cs typeface="Arial" panose="020B0604020202020204" pitchFamily="34" charset="0"/>
              </a:rPr>
              <a:t>RiskAnalyzerTool</a:t>
            </a:r>
            <a:r>
              <a:rPr lang="en-IN" sz="2400" dirty="0">
                <a:latin typeface="Arial" panose="020B0604020202020204" pitchFamily="34" charset="0"/>
                <a:cs typeface="Arial" panose="020B0604020202020204" pitchFamily="34" charset="0"/>
              </a:rPr>
              <a:t> for deterministic risk scoring</a:t>
            </a:r>
          </a:p>
          <a:p>
            <a:pPr marL="342900" indent="-342900" algn="just">
              <a:lnSpc>
                <a:spcPct val="150000"/>
              </a:lnSpc>
              <a:buFont typeface="Arial" panose="020B0604020202020204" pitchFamily="34" charset="0"/>
              <a:buChar char="•"/>
            </a:pPr>
            <a:r>
              <a:rPr lang="en-IN" sz="2400" dirty="0">
                <a:latin typeface="Arial" panose="020B0604020202020204" pitchFamily="34" charset="0"/>
                <a:cs typeface="Arial" panose="020B0604020202020204" pitchFamily="34" charset="0"/>
              </a:rPr>
              <a:t>Ollama-hosted Llama 3.1 (or OpenAI/Anthropic models) for LLM inference</a:t>
            </a:r>
          </a:p>
          <a:p>
            <a:pPr marL="342900" indent="-342900" algn="just">
              <a:lnSpc>
                <a:spcPct val="150000"/>
              </a:lnSpc>
              <a:buFont typeface="Arial" panose="020B0604020202020204" pitchFamily="34" charset="0"/>
              <a:buChar char="•"/>
            </a:pPr>
            <a:r>
              <a:rPr lang="en-IN" sz="2400" dirty="0">
                <a:latin typeface="Arial" panose="020B0604020202020204" pitchFamily="34" charset="0"/>
                <a:cs typeface="Arial" panose="020B0604020202020204" pitchFamily="34" charset="0"/>
              </a:rPr>
              <a:t>Twilio WhatsApp API for report delivery</a:t>
            </a:r>
          </a:p>
          <a:p>
            <a:pPr marL="342900" indent="-342900" algn="just">
              <a:lnSpc>
                <a:spcPct val="150000"/>
              </a:lnSpc>
              <a:buFont typeface="Arial" panose="020B0604020202020204" pitchFamily="34" charset="0"/>
              <a:buChar char="•"/>
            </a:pPr>
            <a:r>
              <a:rPr lang="en-IN" sz="2400" dirty="0">
                <a:latin typeface="Arial" panose="020B0604020202020204" pitchFamily="34" charset="0"/>
                <a:cs typeface="Arial" panose="020B0604020202020204" pitchFamily="34" charset="0"/>
              </a:rPr>
              <a:t>Python 3.12+ as the core development environment</a:t>
            </a:r>
          </a:p>
          <a:p>
            <a:pPr marL="342900" indent="-342900" algn="just">
              <a:lnSpc>
                <a:spcPct val="150000"/>
              </a:lnSpc>
              <a:buFont typeface="Arial" panose="020B0604020202020204" pitchFamily="34" charset="0"/>
              <a:buChar char="•"/>
            </a:pPr>
            <a:r>
              <a:rPr lang="en-IN" sz="2400" dirty="0" err="1">
                <a:latin typeface="Arial" panose="020B0604020202020204" pitchFamily="34" charset="0"/>
                <a:cs typeface="Arial" panose="020B0604020202020204" pitchFamily="34" charset="0"/>
              </a:rPr>
              <a:t>dotenv</a:t>
            </a:r>
            <a:r>
              <a:rPr lang="en-IN" sz="2400" dirty="0">
                <a:latin typeface="Arial" panose="020B0604020202020204" pitchFamily="34" charset="0"/>
                <a:cs typeface="Arial" panose="020B0604020202020204" pitchFamily="34" charset="0"/>
              </a:rPr>
              <a:t> for secure environment and API key management</a:t>
            </a:r>
          </a:p>
          <a:p>
            <a:pPr>
              <a:lnSpc>
                <a:spcPct val="150000"/>
              </a:lnSpc>
            </a:pPr>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4432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19470" y="607184"/>
            <a:ext cx="6096000" cy="577850"/>
          </a:xfrm>
          <a:prstGeom prst="rect">
            <a:avLst/>
          </a:prstGeom>
        </p:spPr>
        <p:txBody>
          <a:bodyPr>
            <a:spAutoFit/>
          </a:bodyPr>
          <a:lstStyle/>
          <a:p>
            <a:pPr>
              <a:lnSpc>
                <a:spcPct val="150000"/>
              </a:lnSpc>
            </a:pPr>
            <a:r>
              <a:rPr lang="en-IN" sz="2400" b="1" dirty="0">
                <a:latin typeface="Arial" panose="020B0604020202020204" pitchFamily="34" charset="0"/>
                <a:cs typeface="Arial" panose="020B0604020202020204" pitchFamily="34" charset="0"/>
              </a:rPr>
              <a:t>7. Tools and Technologies</a:t>
            </a:r>
          </a:p>
        </p:txBody>
      </p:sp>
      <p:graphicFrame>
        <p:nvGraphicFramePr>
          <p:cNvPr id="4" name="Table 3"/>
          <p:cNvGraphicFramePr>
            <a:graphicFrameLocks noGrp="1"/>
          </p:cNvGraphicFramePr>
          <p:nvPr>
            <p:extLst>
              <p:ext uri="{D42A27DB-BD31-4B8C-83A1-F6EECF244321}">
                <p14:modId xmlns:p14="http://schemas.microsoft.com/office/powerpoint/2010/main" val="216196522"/>
              </p:ext>
            </p:extLst>
          </p:nvPr>
        </p:nvGraphicFramePr>
        <p:xfrm>
          <a:off x="719471" y="1569212"/>
          <a:ext cx="10819860" cy="4572000"/>
        </p:xfrm>
        <a:graphic>
          <a:graphicData uri="http://schemas.openxmlformats.org/drawingml/2006/table">
            <a:tbl>
              <a:tblPr>
                <a:tableStyleId>{616DA210-FB5B-4158-B5E0-FEB733F419BA}</a:tableStyleId>
              </a:tblPr>
              <a:tblGrid>
                <a:gridCol w="5055550">
                  <a:extLst>
                    <a:ext uri="{9D8B030D-6E8A-4147-A177-3AD203B41FA5}">
                      <a16:colId xmlns:a16="http://schemas.microsoft.com/office/drawing/2014/main" val="1786335486"/>
                    </a:ext>
                  </a:extLst>
                </a:gridCol>
                <a:gridCol w="5764310">
                  <a:extLst>
                    <a:ext uri="{9D8B030D-6E8A-4147-A177-3AD203B41FA5}">
                      <a16:colId xmlns:a16="http://schemas.microsoft.com/office/drawing/2014/main" val="679336521"/>
                    </a:ext>
                  </a:extLst>
                </a:gridCol>
              </a:tblGrid>
              <a:tr h="0">
                <a:tc>
                  <a:txBody>
                    <a:bodyPr/>
                    <a:lstStyle/>
                    <a:p>
                      <a:pPr algn="ctr"/>
                      <a:r>
                        <a:rPr lang="en-IN" sz="2400" b="1" dirty="0">
                          <a:latin typeface="Arial" panose="020B0604020202020204" pitchFamily="34" charset="0"/>
                          <a:cs typeface="Arial" panose="020B0604020202020204" pitchFamily="34" charset="0"/>
                        </a:rPr>
                        <a:t>Category</a:t>
                      </a:r>
                    </a:p>
                  </a:txBody>
                  <a:tcPr anchor="ctr"/>
                </a:tc>
                <a:tc>
                  <a:txBody>
                    <a:bodyPr/>
                    <a:lstStyle/>
                    <a:p>
                      <a:pPr algn="ctr"/>
                      <a:r>
                        <a:rPr lang="en-IN" sz="2400" b="1" dirty="0">
                          <a:latin typeface="Arial" panose="020B0604020202020204" pitchFamily="34" charset="0"/>
                          <a:cs typeface="Arial" panose="020B0604020202020204" pitchFamily="34" charset="0"/>
                        </a:rPr>
                        <a:t>Tools</a:t>
                      </a:r>
                    </a:p>
                  </a:txBody>
                  <a:tcPr anchor="ctr"/>
                </a:tc>
                <a:extLst>
                  <a:ext uri="{0D108BD9-81ED-4DB2-BD59-A6C34878D82A}">
                    <a16:rowId xmlns:a16="http://schemas.microsoft.com/office/drawing/2014/main" val="27860123"/>
                  </a:ext>
                </a:extLst>
              </a:tr>
              <a:tr h="0">
                <a:tc>
                  <a:txBody>
                    <a:bodyPr/>
                    <a:lstStyle/>
                    <a:p>
                      <a:r>
                        <a:rPr lang="en-IN" sz="2400" dirty="0">
                          <a:latin typeface="Arial" panose="020B0604020202020204" pitchFamily="34" charset="0"/>
                          <a:cs typeface="Arial" panose="020B0604020202020204" pitchFamily="34" charset="0"/>
                        </a:rPr>
                        <a:t>Programming</a:t>
                      </a:r>
                    </a:p>
                  </a:txBody>
                  <a:tcPr anchor="ctr"/>
                </a:tc>
                <a:tc>
                  <a:txBody>
                    <a:bodyPr/>
                    <a:lstStyle/>
                    <a:p>
                      <a:r>
                        <a:rPr lang="en-IN" sz="2400" dirty="0"/>
                        <a:t>Python 3.12+</a:t>
                      </a:r>
                      <a:endParaRPr lang="en-IN" sz="2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039356057"/>
                  </a:ext>
                </a:extLst>
              </a:tr>
              <a:tr h="0">
                <a:tc>
                  <a:txBody>
                    <a:bodyPr/>
                    <a:lstStyle/>
                    <a:p>
                      <a:r>
                        <a:rPr lang="en-IN" sz="2400" dirty="0">
                          <a:latin typeface="Arial" panose="020B0604020202020204" pitchFamily="34" charset="0"/>
                          <a:cs typeface="Arial" panose="020B0604020202020204" pitchFamily="34" charset="0"/>
                        </a:rPr>
                        <a:t>AI Framework</a:t>
                      </a:r>
                    </a:p>
                  </a:txBody>
                  <a:tcPr anchor="ctr"/>
                </a:tc>
                <a:tc>
                  <a:txBody>
                    <a:bodyPr/>
                    <a:lstStyle/>
                    <a:p>
                      <a:r>
                        <a:rPr lang="en-US" sz="2400" dirty="0" err="1"/>
                        <a:t>CrewAI</a:t>
                      </a:r>
                      <a:endParaRPr lang="en-IN" sz="2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218531878"/>
                  </a:ext>
                </a:extLst>
              </a:tr>
              <a:tr h="0">
                <a:tc>
                  <a:txBody>
                    <a:bodyPr/>
                    <a:lstStyle/>
                    <a:p>
                      <a:r>
                        <a:rPr lang="en-IN" sz="2400" dirty="0"/>
                        <a:t>Large Language Model</a:t>
                      </a:r>
                      <a:endParaRPr lang="en-IN" sz="2400" dirty="0">
                        <a:latin typeface="Arial" panose="020B0604020202020204" pitchFamily="34" charset="0"/>
                        <a:cs typeface="Arial" panose="020B0604020202020204" pitchFamily="34" charset="0"/>
                      </a:endParaRPr>
                    </a:p>
                  </a:txBody>
                  <a:tcPr anchor="ctr"/>
                </a:tc>
                <a:tc>
                  <a:txBody>
                    <a:bodyPr/>
                    <a:lstStyle/>
                    <a:p>
                      <a:r>
                        <a:rPr lang="en-IN" sz="2400" dirty="0"/>
                        <a:t>Ollama Llama 3.1</a:t>
                      </a:r>
                      <a:endParaRPr lang="en-IN" sz="2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74776006"/>
                  </a:ext>
                </a:extLst>
              </a:tr>
              <a:tr h="0">
                <a:tc>
                  <a:txBody>
                    <a:bodyPr/>
                    <a:lstStyle/>
                    <a:p>
                      <a:r>
                        <a:rPr lang="en-IN" sz="2400" dirty="0"/>
                        <a:t>Data Sources</a:t>
                      </a:r>
                      <a:endParaRPr lang="en-IN" sz="2400" dirty="0">
                        <a:latin typeface="Arial" panose="020B0604020202020204" pitchFamily="34" charset="0"/>
                        <a:cs typeface="Arial" panose="020B0604020202020204" pitchFamily="34" charset="0"/>
                      </a:endParaRPr>
                    </a:p>
                  </a:txBody>
                  <a:tcPr anchor="ctr"/>
                </a:tc>
                <a:tc>
                  <a:txBody>
                    <a:bodyPr/>
                    <a:lstStyle/>
                    <a:p>
                      <a:r>
                        <a:rPr lang="en-US" sz="2400" dirty="0" err="1"/>
                        <a:t>yfinance</a:t>
                      </a:r>
                      <a:r>
                        <a:rPr lang="en-US" sz="2400" dirty="0"/>
                        <a:t> (market data), </a:t>
                      </a:r>
                      <a:r>
                        <a:rPr lang="en-US" sz="2400" dirty="0" err="1"/>
                        <a:t>NewsAPI</a:t>
                      </a:r>
                      <a:r>
                        <a:rPr lang="en-US" sz="2400" dirty="0"/>
                        <a:t> (sentiment)</a:t>
                      </a:r>
                      <a:endParaRPr lang="en-IN" sz="2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4128859857"/>
                  </a:ext>
                </a:extLst>
              </a:tr>
              <a:tr h="0">
                <a:tc>
                  <a:txBody>
                    <a:bodyPr/>
                    <a:lstStyle/>
                    <a:p>
                      <a:r>
                        <a:rPr lang="en-IN" sz="2400" dirty="0"/>
                        <a:t>Risk Engine </a:t>
                      </a:r>
                      <a:endParaRPr lang="en-IN" sz="2400" dirty="0">
                        <a:latin typeface="Arial" panose="020B0604020202020204" pitchFamily="34" charset="0"/>
                        <a:cs typeface="Arial" panose="020B0604020202020204" pitchFamily="34" charset="0"/>
                      </a:endParaRPr>
                    </a:p>
                  </a:txBody>
                  <a:tcPr anchor="ctr"/>
                </a:tc>
                <a:tc>
                  <a:txBody>
                    <a:bodyPr/>
                    <a:lstStyle/>
                    <a:p>
                      <a:r>
                        <a:rPr lang="en-US" sz="2400" dirty="0"/>
                        <a:t>Custom </a:t>
                      </a:r>
                      <a:r>
                        <a:rPr lang="en-US" sz="2400" dirty="0" err="1"/>
                        <a:t>RiskAnalyzerTool</a:t>
                      </a:r>
                      <a:r>
                        <a:rPr lang="en-US" sz="2400" dirty="0"/>
                        <a:t> </a:t>
                      </a:r>
                      <a:endParaRPr lang="en-IN" sz="24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56627063"/>
                  </a:ext>
                </a:extLst>
              </a:tr>
              <a:tr h="0">
                <a:tc>
                  <a:txBody>
                    <a:bodyPr/>
                    <a:lstStyle/>
                    <a:p>
                      <a:r>
                        <a:rPr lang="en-IN" sz="2400" dirty="0"/>
                        <a:t>Messaging / Delivery</a:t>
                      </a:r>
                      <a:endParaRPr lang="en-IN" sz="2400" dirty="0">
                        <a:latin typeface="Arial" panose="020B0604020202020204" pitchFamily="34" charset="0"/>
                        <a:cs typeface="Arial" panose="020B0604020202020204" pitchFamily="34" charset="0"/>
                      </a:endParaRPr>
                    </a:p>
                  </a:txBody>
                  <a:tcPr anchor="ctr"/>
                </a:tc>
                <a:tc>
                  <a:txBody>
                    <a:bodyPr/>
                    <a:lstStyle/>
                    <a:p>
                      <a:r>
                        <a:rPr lang="en-IN" sz="2400" dirty="0"/>
                        <a:t>Twilio WhatsApp API</a:t>
                      </a:r>
                      <a:endParaRPr lang="en-IN" sz="2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68268665"/>
                  </a:ext>
                </a:extLst>
              </a:tr>
              <a:tr h="0">
                <a:tc>
                  <a:txBody>
                    <a:bodyPr/>
                    <a:lstStyle/>
                    <a:p>
                      <a:r>
                        <a:rPr lang="en-IN" sz="2400" dirty="0"/>
                        <a:t>Environment/Config</a:t>
                      </a:r>
                      <a:endParaRPr lang="en-IN" sz="2400" dirty="0">
                        <a:latin typeface="Arial" panose="020B0604020202020204" pitchFamily="34" charset="0"/>
                        <a:cs typeface="Arial" panose="020B0604020202020204" pitchFamily="34" charset="0"/>
                      </a:endParaRPr>
                    </a:p>
                  </a:txBody>
                  <a:tcPr anchor="ctr"/>
                </a:tc>
                <a:tc>
                  <a:txBody>
                    <a:bodyPr/>
                    <a:lstStyle/>
                    <a:p>
                      <a:r>
                        <a:rPr lang="en-IN" sz="2400" dirty="0"/>
                        <a:t>python-</a:t>
                      </a:r>
                      <a:r>
                        <a:rPr lang="en-IN" sz="2400" dirty="0" err="1"/>
                        <a:t>dotenv</a:t>
                      </a:r>
                      <a:r>
                        <a:rPr lang="en-IN" sz="2400" dirty="0"/>
                        <a:t>, .env secrets management</a:t>
                      </a:r>
                      <a:endParaRPr lang="en-IN" sz="2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509229767"/>
                  </a:ext>
                </a:extLst>
              </a:tr>
              <a:tr h="0">
                <a:tc>
                  <a:txBody>
                    <a:bodyPr/>
                    <a:lstStyle/>
                    <a:p>
                      <a:r>
                        <a:rPr lang="en-IN" sz="2400" dirty="0"/>
                        <a:t>Dependency Management</a:t>
                      </a:r>
                      <a:endParaRPr lang="en-IN" sz="2400" dirty="0">
                        <a:latin typeface="Arial" panose="020B0604020202020204" pitchFamily="34" charset="0"/>
                        <a:cs typeface="Arial" panose="020B0604020202020204" pitchFamily="34" charset="0"/>
                      </a:endParaRPr>
                    </a:p>
                  </a:txBody>
                  <a:tcPr anchor="ctr"/>
                </a:tc>
                <a:tc>
                  <a:txBody>
                    <a:bodyPr/>
                    <a:lstStyle/>
                    <a:p>
                      <a:r>
                        <a:rPr lang="en-US" sz="2400" dirty="0" err="1"/>
                        <a:t>uv</a:t>
                      </a:r>
                      <a:r>
                        <a:rPr lang="en-US" sz="2400" dirty="0"/>
                        <a:t> or Poetry, </a:t>
                      </a:r>
                      <a:r>
                        <a:rPr lang="en-US" sz="2400" dirty="0" err="1"/>
                        <a:t>pyproject.toml</a:t>
                      </a:r>
                      <a:r>
                        <a:rPr lang="en-US" sz="2400" dirty="0"/>
                        <a:t>, </a:t>
                      </a:r>
                      <a:r>
                        <a:rPr lang="en-US" sz="2400" dirty="0" err="1"/>
                        <a:t>uv.lock</a:t>
                      </a:r>
                      <a:endParaRPr lang="en-IN" sz="24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492743700"/>
                  </a:ext>
                </a:extLst>
              </a:tr>
              <a:tr h="0">
                <a:tc>
                  <a:txBody>
                    <a:bodyPr/>
                    <a:lstStyle/>
                    <a:p>
                      <a:r>
                        <a:rPr lang="en-IN" sz="2400" dirty="0">
                          <a:latin typeface="+mn-lt"/>
                          <a:cs typeface="Arial" panose="020B0604020202020204" pitchFamily="34" charset="0"/>
                        </a:rPr>
                        <a:t>Regulatory Filings API</a:t>
                      </a:r>
                    </a:p>
                  </a:txBody>
                  <a:tcPr anchor="ctr"/>
                </a:tc>
                <a:tc>
                  <a:txBody>
                    <a:bodyPr/>
                    <a:lstStyle/>
                    <a:p>
                      <a:r>
                        <a:rPr lang="en-IN" sz="2400" b="0" i="0" kern="1200" dirty="0">
                          <a:solidFill>
                            <a:schemeClr val="tx1"/>
                          </a:solidFill>
                          <a:effectLst/>
                          <a:latin typeface="+mn-lt"/>
                          <a:ea typeface="+mn-ea"/>
                          <a:cs typeface="+mn-cs"/>
                        </a:rPr>
                        <a:t>SEC-API (10-K/10-Q intel via sec-</a:t>
                      </a:r>
                      <a:r>
                        <a:rPr lang="en-IN" sz="2400" b="0" i="0" kern="1200" dirty="0" err="1">
                          <a:solidFill>
                            <a:schemeClr val="tx1"/>
                          </a:solidFill>
                          <a:effectLst/>
                          <a:latin typeface="+mn-lt"/>
                          <a:ea typeface="+mn-ea"/>
                          <a:cs typeface="+mn-cs"/>
                        </a:rPr>
                        <a:t>api</a:t>
                      </a:r>
                      <a:r>
                        <a:rPr lang="en-IN" sz="2400" b="0" i="0" kern="1200" dirty="0">
                          <a:solidFill>
                            <a:schemeClr val="tx1"/>
                          </a:solidFill>
                          <a:effectLst/>
                          <a:latin typeface="+mn-lt"/>
                          <a:ea typeface="+mn-ea"/>
                          <a:cs typeface="+mn-cs"/>
                        </a:rPr>
                        <a:t> package)</a:t>
                      </a:r>
                      <a:endParaRPr lang="en-IN" sz="2400" b="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837666837"/>
                  </a:ext>
                </a:extLst>
              </a:tr>
            </a:tbl>
          </a:graphicData>
        </a:graphic>
      </p:graphicFrame>
    </p:spTree>
    <p:extLst>
      <p:ext uri="{BB962C8B-B14F-4D97-AF65-F5344CB8AC3E}">
        <p14:creationId xmlns:p14="http://schemas.microsoft.com/office/powerpoint/2010/main" val="1144762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7692" y="670426"/>
            <a:ext cx="10445046" cy="5632311"/>
          </a:xfrm>
          <a:prstGeom prst="rect">
            <a:avLst/>
          </a:prstGeom>
        </p:spPr>
        <p:txBody>
          <a:bodyPr wrap="square">
            <a:spAutoFit/>
          </a:bodyPr>
          <a:lstStyle/>
          <a:p>
            <a:r>
              <a:rPr lang="en-IN" sz="2400" b="1" dirty="0">
                <a:latin typeface="Arial" panose="020B0604020202020204" pitchFamily="34" charset="0"/>
                <a:cs typeface="Arial" panose="020B0604020202020204" pitchFamily="34" charset="0"/>
              </a:rPr>
              <a:t>8. Reference</a:t>
            </a:r>
          </a:p>
          <a:p>
            <a:endParaRPr lang="en-IN" sz="2400" dirty="0">
              <a:cs typeface="Arial" panose="020B0604020202020204" pitchFamily="34" charset="0"/>
            </a:endParaRPr>
          </a:p>
          <a:p>
            <a:pPr algn="just"/>
            <a:r>
              <a:rPr lang="en-IN" sz="2400" dirty="0">
                <a:cs typeface="Arial" panose="020B0604020202020204" pitchFamily="34" charset="0"/>
              </a:rPr>
              <a:t>[1] H. Markowitz, “Portfolio selection,” The Journal of Finance, vol. 7, no. 1, pp. 77–91, 1952.</a:t>
            </a:r>
          </a:p>
          <a:p>
            <a:pPr algn="just"/>
            <a:endParaRPr lang="en-IN" sz="2400" dirty="0">
              <a:cs typeface="Arial" panose="020B0604020202020204" pitchFamily="34" charset="0"/>
            </a:endParaRPr>
          </a:p>
          <a:p>
            <a:pPr algn="just"/>
            <a:r>
              <a:rPr lang="en-IN" sz="2400" dirty="0">
                <a:cs typeface="Arial" panose="020B0604020202020204" pitchFamily="34" charset="0"/>
              </a:rPr>
              <a:t>[2] E. F. Fama and K. R. French, “Common risk factors in the returns on stocks and bonds,” Journal of Financial Economics, vol. 33, no. 1, pp. 3–56, 1993.</a:t>
            </a:r>
          </a:p>
          <a:p>
            <a:pPr algn="just"/>
            <a:endParaRPr lang="en-IN" sz="2400" dirty="0">
              <a:cs typeface="Arial" panose="020B0604020202020204" pitchFamily="34" charset="0"/>
            </a:endParaRPr>
          </a:p>
          <a:p>
            <a:pPr algn="just"/>
            <a:r>
              <a:rPr lang="en-IN" sz="2400" dirty="0">
                <a:cs typeface="Arial" panose="020B0604020202020204" pitchFamily="34" charset="0"/>
              </a:rPr>
              <a:t>[3] R. </a:t>
            </a:r>
            <a:r>
              <a:rPr lang="en-IN" sz="2400" dirty="0" err="1">
                <a:cs typeface="Arial" panose="020B0604020202020204" pitchFamily="34" charset="0"/>
              </a:rPr>
              <a:t>Tsaih</a:t>
            </a:r>
            <a:r>
              <a:rPr lang="en-IN" sz="2400" dirty="0">
                <a:cs typeface="Arial" panose="020B0604020202020204" pitchFamily="34" charset="0"/>
              </a:rPr>
              <a:t>, Y. Hsu, C. Lai, and D. Yen, “Forecasting S&amp;P 500 stock index futures with a hybrid AI system,” Decision Support Systems, vol. 23, no. 2, pp. 161–174, 1998.</a:t>
            </a:r>
          </a:p>
          <a:p>
            <a:pPr algn="just"/>
            <a:endParaRPr lang="en-IN" sz="2400" dirty="0">
              <a:cs typeface="Arial" panose="020B0604020202020204" pitchFamily="34" charset="0"/>
            </a:endParaRPr>
          </a:p>
          <a:p>
            <a:pPr algn="just"/>
            <a:r>
              <a:rPr lang="en-IN" sz="2400" dirty="0">
                <a:cs typeface="Arial" panose="020B0604020202020204" pitchFamily="34" charset="0"/>
              </a:rPr>
              <a:t>[4] K.-j. Kim, “Financial time series forecasting using support vector machines,” Neurocomputing, vol. 55, no. 1–2, pp. 307–319, 2003.</a:t>
            </a:r>
            <a:endParaRPr lang="en-IN" sz="2400" b="1" dirty="0">
              <a:latin typeface="Arial" panose="020B0604020202020204" pitchFamily="34" charset="0"/>
              <a:cs typeface="Arial" panose="020B0604020202020204" pitchFamily="34" charset="0"/>
            </a:endParaRPr>
          </a:p>
          <a:p>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906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0195-464E-9087-0692-32C67E3EF18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F2C3F09-56F7-3537-E7B3-6AA4C56A03E5}"/>
              </a:ext>
            </a:extLst>
          </p:cNvPr>
          <p:cNvSpPr/>
          <p:nvPr/>
        </p:nvSpPr>
        <p:spPr>
          <a:xfrm>
            <a:off x="857692" y="670426"/>
            <a:ext cx="10463900" cy="6001643"/>
          </a:xfrm>
          <a:prstGeom prst="rect">
            <a:avLst/>
          </a:prstGeom>
        </p:spPr>
        <p:txBody>
          <a:bodyPr wrap="square">
            <a:spAutoFit/>
          </a:bodyPr>
          <a:lstStyle/>
          <a:p>
            <a:r>
              <a:rPr lang="en-IN" sz="2400" b="1" dirty="0">
                <a:latin typeface="Arial" panose="020B0604020202020204" pitchFamily="34" charset="0"/>
                <a:cs typeface="Arial" panose="020B0604020202020204" pitchFamily="34" charset="0"/>
              </a:rPr>
              <a:t>8. Reference</a:t>
            </a:r>
          </a:p>
          <a:p>
            <a:endParaRPr lang="en-IN" sz="2400" dirty="0">
              <a:cs typeface="Arial" panose="020B0604020202020204" pitchFamily="34" charset="0"/>
            </a:endParaRPr>
          </a:p>
          <a:p>
            <a:pPr algn="just"/>
            <a:r>
              <a:rPr lang="en-IN" sz="2400" dirty="0">
                <a:cs typeface="Arial" panose="020B0604020202020204" pitchFamily="34" charset="0"/>
              </a:rPr>
              <a:t>[5] T. Wang and Y. Kim, “Financial investment recommendation via knowledge graph reasoning,” in Proc. 33rd AAAI Conf. Artificial </a:t>
            </a:r>
            <a:r>
              <a:rPr lang="en-IN" sz="2400" dirty="0" err="1">
                <a:cs typeface="Arial" panose="020B0604020202020204" pitchFamily="34" charset="0"/>
              </a:rPr>
              <a:t>Intell</a:t>
            </a:r>
            <a:r>
              <a:rPr lang="en-IN" sz="2400" dirty="0">
                <a:cs typeface="Arial" panose="020B0604020202020204" pitchFamily="34" charset="0"/>
              </a:rPr>
              <a:t>., Honolulu, HI, USA, 2019, pp. 9562–9569.</a:t>
            </a:r>
          </a:p>
          <a:p>
            <a:pPr algn="just"/>
            <a:endParaRPr lang="en-IN" sz="2400" dirty="0">
              <a:cs typeface="Arial" panose="020B0604020202020204" pitchFamily="34" charset="0"/>
            </a:endParaRPr>
          </a:p>
          <a:p>
            <a:pPr algn="just"/>
            <a:r>
              <a:rPr lang="en-IN" sz="2400" dirty="0">
                <a:cs typeface="Arial" panose="020B0604020202020204" pitchFamily="34" charset="0"/>
              </a:rPr>
              <a:t>[6] X. Zhang, G. Chen, and S. Zhong, “Explainable AI for stock portfolio management,” in Proc. IEEE Int. Conf. Big Data, Atlanta, GA, USA, 2020, pp. 1605–1614.</a:t>
            </a:r>
          </a:p>
          <a:p>
            <a:pPr algn="just"/>
            <a:endParaRPr lang="en-IN" sz="2400" dirty="0">
              <a:cs typeface="Arial" panose="020B0604020202020204" pitchFamily="34" charset="0"/>
            </a:endParaRPr>
          </a:p>
          <a:p>
            <a:pPr algn="just"/>
            <a:r>
              <a:rPr lang="en-IN" sz="2400" dirty="0">
                <a:cs typeface="Arial" panose="020B0604020202020204" pitchFamily="34" charset="0"/>
              </a:rPr>
              <a:t>[7] Y. Li, L. Sun, and H. Liu, “Multimodal deep learning for stock movement prediction,” Expert Systems with Applications, vol. 186, p. 115682, 2021.</a:t>
            </a:r>
          </a:p>
          <a:p>
            <a:pPr algn="just"/>
            <a:endParaRPr lang="en-IN" sz="2400" dirty="0">
              <a:cs typeface="Arial" panose="020B0604020202020204" pitchFamily="34" charset="0"/>
            </a:endParaRPr>
          </a:p>
          <a:p>
            <a:pPr algn="just"/>
            <a:r>
              <a:rPr lang="en-IN" sz="2400" dirty="0">
                <a:cs typeface="Arial" panose="020B0604020202020204" pitchFamily="34" charset="0"/>
              </a:rPr>
              <a:t>[8] J. Chen, A. Patel, and D. Roy, “Agentic LLM pipelines for financial research desks,” in Proc. 5th ACM Conf. AI in Finance, London, U.K., 2025, pp. 45–54.</a:t>
            </a:r>
            <a:endParaRPr lang="en-IN" sz="2400" b="1" dirty="0">
              <a:latin typeface="Arial" panose="020B0604020202020204" pitchFamily="34" charset="0"/>
              <a:cs typeface="Arial" panose="020B0604020202020204" pitchFamily="34" charset="0"/>
            </a:endParaRPr>
          </a:p>
          <a:p>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1354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TotalTime>
  <Words>1427</Words>
  <Application>Microsoft Office PowerPoint</Application>
  <PresentationFormat>Widescreen</PresentationFormat>
  <Paragraphs>150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gvsreshma2005@outlook.com</cp:lastModifiedBy>
  <cp:revision>14</cp:revision>
  <dcterms:created xsi:type="dcterms:W3CDTF">2026-03-13T05:48:33Z</dcterms:created>
  <dcterms:modified xsi:type="dcterms:W3CDTF">2026-03-17T19:50:01Z</dcterms:modified>
</cp:coreProperties>
</file>